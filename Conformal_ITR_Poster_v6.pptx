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0.xml" ContentType="application/vnd.ms-powerpoint.comment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43891200" cy="32918400"/>
  <p:notesSz cx="32918400" cy="438912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37EE448-7757-D603-49EB-FCED0C22F8A9}" name="Zhuodiao Kuang" initials="ZK" userId="88bad50b8b97a805" providerId="Windows Live"/>
  <p188:author id="{B8F1D079-4707-3C89-634C-E9D75E8D28B9}" name="Tang, Lu" initials="LT" userId="S::LUTANG@pitt.edu::6517bef5-473a-472f-a971-9740978d47e8" providerId="AD"/>
  <p188:author id="{E2AF51A1-8573-B6BE-5B49-5CA3B26BF883}" name="Ding, Ying" initials="YD" userId="S::YINGDING@pitt.edu::09096ca1-e101-4439-9a24-3308143fa53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699"/>
    <a:srgbClr val="FFD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23" d="100"/>
          <a:sy n="23" d="100"/>
        </p:scale>
        <p:origin x="81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ng, Ying" userId="09096ca1-e101-4439-9a24-3308143fa53c" providerId="ADAL" clId="{D236AEDC-4D5C-4452-9A75-68AA13F35FC4}"/>
    <pc:docChg chg="undo custSel modSld">
      <pc:chgData name="Ding, Ying" userId="09096ca1-e101-4439-9a24-3308143fa53c" providerId="ADAL" clId="{D236AEDC-4D5C-4452-9A75-68AA13F35FC4}" dt="2026-03-31T01:48:50.755" v="223" actId="1076"/>
      <pc:docMkLst>
        <pc:docMk/>
      </pc:docMkLst>
      <pc:sldChg chg="addSp delSp modSp mod">
        <pc:chgData name="Ding, Ying" userId="09096ca1-e101-4439-9a24-3308143fa53c" providerId="ADAL" clId="{D236AEDC-4D5C-4452-9A75-68AA13F35FC4}" dt="2026-03-31T01:48:50.755" v="223" actId="1076"/>
        <pc:sldMkLst>
          <pc:docMk/>
          <pc:sldMk cId="0" sldId="256"/>
        </pc:sldMkLst>
        <pc:spChg chg="add del">
          <ac:chgData name="Ding, Ying" userId="09096ca1-e101-4439-9a24-3308143fa53c" providerId="ADAL" clId="{D236AEDC-4D5C-4452-9A75-68AA13F35FC4}" dt="2026-03-31T01:46:30.163" v="209" actId="478"/>
          <ac:spMkLst>
            <pc:docMk/>
            <pc:sldMk cId="0" sldId="256"/>
            <ac:spMk id="9" creationId="{FBEDD588-9713-B22D-7BC2-56A0CC5DFCF6}"/>
          </ac:spMkLst>
        </pc:spChg>
        <pc:spChg chg="mod">
          <ac:chgData name="Ding, Ying" userId="09096ca1-e101-4439-9a24-3308143fa53c" providerId="ADAL" clId="{D236AEDC-4D5C-4452-9A75-68AA13F35FC4}" dt="2026-03-31T01:42:28.883" v="142" actId="6549"/>
          <ac:spMkLst>
            <pc:docMk/>
            <pc:sldMk cId="0" sldId="256"/>
            <ac:spMk id="32" creationId="{44F733CF-76CC-01CF-56ED-D6747D01DC10}"/>
          </ac:spMkLst>
        </pc:spChg>
        <pc:spChg chg="add del mod">
          <ac:chgData name="Ding, Ying" userId="09096ca1-e101-4439-9a24-3308143fa53c" providerId="ADAL" clId="{D236AEDC-4D5C-4452-9A75-68AA13F35FC4}" dt="2026-03-31T01:45:15.267" v="207" actId="14100"/>
          <ac:spMkLst>
            <pc:docMk/>
            <pc:sldMk cId="0" sldId="256"/>
            <ac:spMk id="63" creationId="{FC9947CD-EA7B-81AD-0D49-65AA501CB67E}"/>
          </ac:spMkLst>
        </pc:spChg>
        <pc:spChg chg="mod">
          <ac:chgData name="Ding, Ying" userId="09096ca1-e101-4439-9a24-3308143fa53c" providerId="ADAL" clId="{D236AEDC-4D5C-4452-9A75-68AA13F35FC4}" dt="2026-03-31T01:43:43.880" v="190" actId="20577"/>
          <ac:spMkLst>
            <pc:docMk/>
            <pc:sldMk cId="0" sldId="256"/>
            <ac:spMk id="114" creationId="{DAFC5FA6-5BE3-A976-4063-AFB2F32F4BEF}"/>
          </ac:spMkLst>
        </pc:spChg>
        <pc:spChg chg="mod">
          <ac:chgData name="Ding, Ying" userId="09096ca1-e101-4439-9a24-3308143fa53c" providerId="ADAL" clId="{D236AEDC-4D5C-4452-9A75-68AA13F35FC4}" dt="2026-03-31T01:48:32.244" v="221" actId="1076"/>
          <ac:spMkLst>
            <pc:docMk/>
            <pc:sldMk cId="0" sldId="256"/>
            <ac:spMk id="1025" creationId="{4075A68D-A310-2DAD-221F-6A26E2D64128}"/>
          </ac:spMkLst>
        </pc:spChg>
        <pc:spChg chg="mod">
          <ac:chgData name="Ding, Ying" userId="09096ca1-e101-4439-9a24-3308143fa53c" providerId="ADAL" clId="{D236AEDC-4D5C-4452-9A75-68AA13F35FC4}" dt="2026-03-31T01:48:21.198" v="219" actId="1076"/>
          <ac:spMkLst>
            <pc:docMk/>
            <pc:sldMk cId="0" sldId="256"/>
            <ac:spMk id="1027" creationId="{AA765FB2-F66C-0F77-0873-A8CE653CB57E}"/>
          </ac:spMkLst>
        </pc:spChg>
        <pc:graphicFrameChg chg="modGraphic">
          <ac:chgData name="Ding, Ying" userId="09096ca1-e101-4439-9a24-3308143fa53c" providerId="ADAL" clId="{D236AEDC-4D5C-4452-9A75-68AA13F35FC4}" dt="2026-03-31T01:47:14.583" v="217" actId="20577"/>
          <ac:graphicFrameMkLst>
            <pc:docMk/>
            <pc:sldMk cId="0" sldId="256"/>
            <ac:graphicFrameMk id="33" creationId="{457E19B0-B72C-5B10-195C-22D9FA0C7BD0}"/>
          </ac:graphicFrameMkLst>
        </pc:graphicFrameChg>
        <pc:picChg chg="mod">
          <ac:chgData name="Ding, Ying" userId="09096ca1-e101-4439-9a24-3308143fa53c" providerId="ADAL" clId="{D236AEDC-4D5C-4452-9A75-68AA13F35FC4}" dt="2026-03-31T01:48:50.755" v="223" actId="1076"/>
          <ac:picMkLst>
            <pc:docMk/>
            <pc:sldMk cId="0" sldId="256"/>
            <ac:picMk id="45" creationId="{ACFCD1D6-2885-D60A-8369-959BDC3EC6B7}"/>
          </ac:picMkLst>
        </pc:picChg>
        <pc:picChg chg="mod">
          <ac:chgData name="Ding, Ying" userId="09096ca1-e101-4439-9a24-3308143fa53c" providerId="ADAL" clId="{D236AEDC-4D5C-4452-9A75-68AA13F35FC4}" dt="2026-03-31T01:48:24.353" v="220" actId="1076"/>
          <ac:picMkLst>
            <pc:docMk/>
            <pc:sldMk cId="0" sldId="256"/>
            <ac:picMk id="49" creationId="{9D4A7E06-3009-FA5C-F339-0813D08F006F}"/>
          </ac:picMkLst>
        </pc:picChg>
      </pc:sldChg>
    </pc:docChg>
  </pc:docChgLst>
</pc:chgInfo>
</file>

<file path=ppt/comments/modernComment_100_0.xml><?xml version="1.0" encoding="utf-8"?>
<p188:cmLst xmlns:a="http://schemas.openxmlformats.org/drawingml/2006/main" xmlns:r="http://schemas.openxmlformats.org/officeDocument/2006/relationships" xmlns:p188="http://schemas.microsoft.com/office/powerpoint/2018/8/main">
  <p188:cm id="{33C8E0D1-476E-49E5-8343-01A1D19D878B}" authorId="{B8F1D079-4707-3C89-634C-E9D75E8D28B9}" status="resolved" created="2026-03-18T16:46:26.026" complete="100000">
    <ac:txMkLst xmlns:ac="http://schemas.microsoft.com/office/drawing/2013/main/command">
      <pc:docMk xmlns:pc="http://schemas.microsoft.com/office/powerpoint/2013/main/command"/>
      <pc:sldMk xmlns:pc="http://schemas.microsoft.com/office/powerpoint/2013/main/command" cId="0" sldId="256"/>
      <ac:spMk id="9" creationId="{00000000-0000-0000-0000-000000000000}"/>
      <ac:txMk cp="0">
        <ac:context len="1293" hash="206027746"/>
      </ac:txMk>
    </ac:txMkLst>
    <p188:txBody>
      <a:bodyPr/>
      <a:lstStyle/>
      <a:p>
        <a:r>
          <a:rPr lang="en-US"/>
          <a:t>I think you can make it into a small diagram, so it is easy to see. </a:t>
        </a:r>
      </a:p>
    </p188:txBody>
  </p188:cm>
  <p188:cm id="{45DCFB13-2C1D-4841-87AF-ADB7453150E6}" authorId="{B8F1D079-4707-3C89-634C-E9D75E8D28B9}" status="resolved" created="2026-03-18T16:49:16.671" complete="100000">
    <ac:deMkLst xmlns:ac="http://schemas.microsoft.com/office/drawing/2013/main/command">
      <pc:docMk xmlns:pc="http://schemas.microsoft.com/office/powerpoint/2013/main/command"/>
      <pc:sldMk xmlns:pc="http://schemas.microsoft.com/office/powerpoint/2013/main/command" cId="0" sldId="256"/>
      <ac:spMk id="10" creationId="{22FB69AA-6ADB-086C-917E-C5692DC12189}"/>
    </ac:deMkLst>
    <p188:txBody>
      <a:bodyPr/>
      <a:lstStyle/>
      <a:p>
        <a:r>
          <a:rPr lang="en-US"/>
          <a:t>You can use some box to highlight the difference level of focus. For example, you talk about single source first, so, you just need to look inside the box. Then, outside for additional external source. </a:t>
        </a:r>
      </a:p>
    </p188:txBody>
  </p188:cm>
  <p188:cm id="{4141F6CC-0A32-4C14-8ECD-D5A308088EA0}" authorId="{B8F1D079-4707-3C89-634C-E9D75E8D28B9}" status="resolved" created="2026-03-18T16:51:14.466" complete="100000">
    <ac:txMkLst xmlns:ac="http://schemas.microsoft.com/office/drawing/2013/main/command">
      <pc:docMk xmlns:pc="http://schemas.microsoft.com/office/powerpoint/2013/main/command"/>
      <pc:sldMk xmlns:pc="http://schemas.microsoft.com/office/powerpoint/2013/main/command" cId="0" sldId="256"/>
      <ac:spMk id="9" creationId="{00000000-0000-0000-0000-000000000000}"/>
      <ac:txMk cp="0">
        <ac:context len="1293" hash="206027746"/>
      </ac:txMk>
    </ac:txMkLst>
    <p188:txBody>
      <a:bodyPr/>
      <a:lstStyle/>
      <a:p>
        <a:r>
          <a:rPr lang="en-US"/>
          <a:t>Red color</a:t>
        </a:r>
      </a:p>
    </p188:txBody>
  </p188:cm>
  <p188:cm id="{96F1607D-2B5D-408F-BD4B-D81D8A4834D3}" authorId="{B8F1D079-4707-3C89-634C-E9D75E8D28B9}" status="resolved" created="2026-03-18T16:51:23.781" complete="100000">
    <ac:txMkLst xmlns:ac="http://schemas.microsoft.com/office/drawing/2013/main/command">
      <pc:docMk xmlns:pc="http://schemas.microsoft.com/office/powerpoint/2013/main/command"/>
      <pc:sldMk xmlns:pc="http://schemas.microsoft.com/office/powerpoint/2013/main/command" cId="0" sldId="256"/>
      <ac:spMk id="9" creationId="{00000000-0000-0000-0000-000000000000}"/>
      <ac:txMk cp="0">
        <ac:context len="1293" hash="206027746"/>
      </ac:txMk>
    </ac:txMkLst>
    <p188:txBody>
      <a:bodyPr/>
      <a:lstStyle/>
      <a:p>
        <a:r>
          <a:rPr lang="en-US"/>
          <a:t>Red color</a:t>
        </a:r>
      </a:p>
    </p188:txBody>
  </p188:cm>
  <p188:cm id="{12724E8A-9D48-4BA7-9FE7-6882670C01BB}" authorId="{B8F1D079-4707-3C89-634C-E9D75E8D28B9}" status="resolved" created="2026-03-18T16:51:39.752" complete="100000">
    <ac:deMkLst xmlns:ac="http://schemas.microsoft.com/office/drawing/2013/main/command">
      <pc:docMk xmlns:pc="http://schemas.microsoft.com/office/powerpoint/2013/main/command"/>
      <pc:sldMk xmlns:pc="http://schemas.microsoft.com/office/powerpoint/2013/main/command" cId="0" sldId="256"/>
      <ac:picMk id="93" creationId="{23D8AFF9-95DB-7CAD-0EBD-6F189D8E72B2}"/>
    </ac:deMkLst>
    <p188:txBody>
      <a:bodyPr/>
      <a:lstStyle/>
      <a:p>
        <a:r>
          <a:rPr lang="en-US"/>
          <a:t>Need to re-type these for better resolution.</a:t>
        </a:r>
      </a:p>
    </p188:txBody>
  </p188:cm>
  <p188:cm id="{BF485573-8361-4A7D-9490-7630BDFF1A39}" authorId="{B8F1D079-4707-3C89-634C-E9D75E8D28B9}" status="resolved" created="2026-03-18T16:52:30.123" complete="100000">
    <ac:deMkLst xmlns:ac="http://schemas.microsoft.com/office/drawing/2013/main/command">
      <pc:docMk xmlns:pc="http://schemas.microsoft.com/office/powerpoint/2013/main/command"/>
      <pc:sldMk xmlns:pc="http://schemas.microsoft.com/office/powerpoint/2013/main/command" cId="0" sldId="256"/>
      <ac:picMk id="19" creationId="{C1933A01-CC9B-F71C-A230-3ABF30B4E916}"/>
    </ac:deMkLst>
    <p188:txBody>
      <a:bodyPr/>
      <a:lstStyle/>
      <a:p>
        <a:r>
          <a:rPr lang="en-US"/>
          <a:t>Consider deleting the most standard ones. Or just use a sentence to replace it. </a:t>
        </a:r>
      </a:p>
    </p188:txBody>
  </p188:cm>
  <p188:cm id="{BF0F85C9-FAFD-4082-8B4B-5EC5FC263CB6}" authorId="{B8F1D079-4707-3C89-634C-E9D75E8D28B9}" status="resolved" created="2026-03-18T16:54:15.697" complete="100000">
    <ac:deMkLst xmlns:ac="http://schemas.microsoft.com/office/drawing/2013/main/command">
      <pc:docMk xmlns:pc="http://schemas.microsoft.com/office/powerpoint/2013/main/command"/>
      <pc:sldMk xmlns:pc="http://schemas.microsoft.com/office/powerpoint/2013/main/command" cId="0" sldId="256"/>
      <ac:picMk id="115" creationId="{A7712C07-85DE-4AC5-4464-FBFFA392A5D1}"/>
    </ac:deMkLst>
    <p188:txBody>
      <a:bodyPr/>
      <a:lstStyle/>
      <a:p>
        <a:r>
          <a:rPr lang="en-US"/>
          <a:t>You could add words on the figure to help show the interpretation. E.g., you can point out those that do not have the desired coverage using text box and arrows. Also, you can add text for the average length that says “smaller the better”. Or something like that. </a:t>
        </a:r>
      </a:p>
    </p188:txBody>
  </p188:cm>
  <p188:cm id="{0BFBDC6D-69C4-41DF-9988-BEC3EBD4C1C5}" authorId="{E2AF51A1-8573-B6BE-5B49-5CA3B26BF883}" created="2026-03-31T01:32:40.264">
    <ac:deMkLst xmlns:ac="http://schemas.microsoft.com/office/drawing/2013/main/command">
      <pc:docMk xmlns:pc="http://schemas.microsoft.com/office/powerpoint/2013/main/command"/>
      <pc:sldMk xmlns:pc="http://schemas.microsoft.com/office/powerpoint/2013/main/command" cId="0" sldId="256"/>
      <ac:picMk id="19" creationId="{C7E1E323-29ED-4D5E-0715-BE4D9B3EDBC5}"/>
    </ac:deMkLst>
    <p188:txBody>
      <a:bodyPr/>
      <a:lstStyle/>
      <a:p>
        <a:r>
          <a:rPr lang="en-US"/>
          <a:t>Suggest not to specify “assign EGDT to all UPMC patients” as the new rule to evaluate, as our title emphasized ITR! Just say something like, “evaluate the ITR on the real-world UPMC septic patients”.</a:t>
        </a:r>
      </a:p>
    </p188:txBody>
    <p188:extLst>
      <p:ext xmlns:p="http://schemas.openxmlformats.org/presentationml/2006/main" uri="{57CB4572-C831-44C2-8A1C-0ADB6CCDFE69}">
        <p223:reactions xmlns:p223="http://schemas.microsoft.com/office/powerpoint/2022/03/main">
          <p223:rxn type="👍">
            <p223:instance time="2026-04-01T02:28:50.051" authorId="{037EE448-7757-D603-49EB-FCED0C22F8A9}"/>
          </p223:rxn>
        </p223:reactions>
      </p:ext>
    </p188:extLst>
  </p188:cm>
  <p188:cm id="{B5360D19-B394-46D3-B6DF-4912AC5F5ABB}" authorId="{E2AF51A1-8573-B6BE-5B49-5CA3B26BF883}" created="2026-03-31T01:34:54.216">
    <ac:deMkLst xmlns:ac="http://schemas.microsoft.com/office/drawing/2013/main/command">
      <pc:docMk xmlns:pc="http://schemas.microsoft.com/office/powerpoint/2013/main/command"/>
      <pc:sldMk xmlns:pc="http://schemas.microsoft.com/office/powerpoint/2013/main/command" cId="0" sldId="256"/>
      <ac:picMk id="19" creationId="{C7E1E323-29ED-4D5E-0715-BE4D9B3EDBC5}"/>
    </ac:deMkLst>
    <p188:txBody>
      <a:bodyPr/>
      <a:lstStyle/>
      <a:p>
        <a:r>
          <a:rPr lang="en-US"/>
          <a:t>“..Testing on other datasets first…” is inaccurate; instead, you need the “help” of the source data to develop your conformal prediction procedure</a:t>
        </a:r>
      </a:p>
    </p188:txBody>
    <p188:extLst>
      <p:ext xmlns:p="http://schemas.openxmlformats.org/presentationml/2006/main" uri="{57CB4572-C831-44C2-8A1C-0ADB6CCDFE69}">
        <p223:reactions xmlns:p223="http://schemas.microsoft.com/office/powerpoint/2022/03/main">
          <p223:rxn type="👍">
            <p223:instance time="2026-04-01T02:28:49.067" authorId="{037EE448-7757-D603-49EB-FCED0C22F8A9}"/>
          </p223:rxn>
        </p223:reactions>
      </p:ext>
    </p188:extLst>
  </p188:cm>
  <p188:cm id="{5E61A5BD-B593-49D2-B574-479E8834D913}" authorId="{E2AF51A1-8573-B6BE-5B49-5CA3B26BF883}" created="2026-03-31T01:37:59.084">
    <ac:deMkLst xmlns:ac="http://schemas.microsoft.com/office/drawing/2013/main/command">
      <pc:docMk xmlns:pc="http://schemas.microsoft.com/office/powerpoint/2013/main/command"/>
      <pc:sldMk xmlns:pc="http://schemas.microsoft.com/office/powerpoint/2013/main/command" cId="0" sldId="256"/>
      <ac:picMk id="22" creationId="{83ADBFC1-83B1-1B8A-DB45-F885DB3D71DB}"/>
    </ac:deMkLst>
    <p188:txBody>
      <a:bodyPr/>
      <a:lstStyle/>
      <a:p>
        <a:r>
          <a:rPr lang="en-US"/>
          <a:t>The illustrative plot with four patients is good, however, you need to emphasize that this is the outcome of the method (a reliable predicted interval for the outcome for each individual)</a:t>
        </a:r>
      </a:p>
    </p188:txBody>
    <p188:extLst>
      <p:ext xmlns:p="http://schemas.openxmlformats.org/presentationml/2006/main" uri="{57CB4572-C831-44C2-8A1C-0ADB6CCDFE69}">
        <p223:reactions xmlns:p223="http://schemas.microsoft.com/office/powerpoint/2022/03/main">
          <p223:rxn type="👍">
            <p223:instance time="2026-04-01T02:28:48.125" authorId="{037EE448-7757-D603-49EB-FCED0C22F8A9}"/>
          </p223:rxn>
        </p223:reactions>
      </p:ext>
    </p188:extLst>
  </p188:cm>
  <p188:cm id="{D659B20C-0FFF-44BD-802F-77F97B3751B4}" authorId="{E2AF51A1-8573-B6BE-5B49-5CA3B26BF883}" created="2026-03-31T01:49:50.412">
    <ac:txMkLst xmlns:ac="http://schemas.microsoft.com/office/drawing/2013/main/command">
      <pc:docMk xmlns:pc="http://schemas.microsoft.com/office/powerpoint/2013/main/command"/>
      <pc:sldMk xmlns:pc="http://schemas.microsoft.com/office/powerpoint/2013/main/command" cId="0" sldId="256"/>
      <ac:spMk id="123" creationId="{B51B0787-C01D-21BD-9EA1-A252C98FD6D1}"/>
      <ac:txMk cp="0" len="47">
        <ac:context len="48" hash="4093706917"/>
      </ac:txMk>
    </ac:txMkLst>
    <p188:pos x="9234023" y="225025"/>
    <p188:txBody>
      <a:bodyPr/>
      <a:lstStyle/>
      <a:p>
        <a:r>
          <a:rPr lang="en-US"/>
          <a:t>For both simulation and real data results, need to add concise and crisp key take-home messages.</a:t>
        </a:r>
      </a:p>
    </p188:txBody>
    <p188:extLst>
      <p:ext xmlns:p="http://schemas.openxmlformats.org/presentationml/2006/main" uri="{57CB4572-C831-44C2-8A1C-0ADB6CCDFE69}">
        <p223:reactions xmlns:p223="http://schemas.microsoft.com/office/powerpoint/2022/03/main">
          <p223:rxn type="👍">
            <p223:instance time="2026-04-01T02:28:45.544" authorId="{037EE448-7757-D603-49EB-FCED0C22F8A9}"/>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61516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0.png"/><Relationship Id="rId3" Type="http://schemas.microsoft.com/office/2018/10/relationships/comments" Target="../comments/modernComment_100_0.xml"/><Relationship Id="rId7" Type="http://schemas.openxmlformats.org/officeDocument/2006/relationships/image" Target="../media/image4.jpeg"/><Relationship Id="rId12"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B1FC084A-341E-6D1D-6A1E-125E65167181}"/>
              </a:ext>
            </a:extLst>
          </p:cNvPr>
          <p:cNvPicPr>
            <a:picLocks noChangeAspect="1"/>
          </p:cNvPicPr>
          <p:nvPr/>
        </p:nvPicPr>
        <p:blipFill>
          <a:blip r:embed="rId4"/>
          <a:stretch>
            <a:fillRect/>
          </a:stretch>
        </p:blipFill>
        <p:spPr>
          <a:xfrm>
            <a:off x="16684533" y="7474979"/>
            <a:ext cx="11438569" cy="8321558"/>
          </a:xfrm>
          <a:prstGeom prst="rect">
            <a:avLst/>
          </a:prstGeom>
        </p:spPr>
      </p:pic>
      <p:pic>
        <p:nvPicPr>
          <p:cNvPr id="17" name="Picture 16">
            <a:extLst>
              <a:ext uri="{FF2B5EF4-FFF2-40B4-BE49-F238E27FC236}">
                <a16:creationId xmlns:a16="http://schemas.microsoft.com/office/drawing/2014/main" id="{B4305AB7-B8F7-4681-0633-A71837577280}"/>
              </a:ext>
            </a:extLst>
          </p:cNvPr>
          <p:cNvPicPr>
            <a:picLocks noChangeAspect="1"/>
          </p:cNvPicPr>
          <p:nvPr/>
        </p:nvPicPr>
        <p:blipFill>
          <a:blip r:embed="rId5"/>
          <a:stretch>
            <a:fillRect/>
          </a:stretch>
        </p:blipFill>
        <p:spPr>
          <a:xfrm>
            <a:off x="359536" y="7193924"/>
            <a:ext cx="12928875" cy="12336950"/>
          </a:xfrm>
          <a:prstGeom prst="rect">
            <a:avLst/>
          </a:prstGeom>
        </p:spPr>
      </p:pic>
      <p:sp>
        <p:nvSpPr>
          <p:cNvPr id="13" name="Arrow: Down 12">
            <a:extLst>
              <a:ext uri="{FF2B5EF4-FFF2-40B4-BE49-F238E27FC236}">
                <a16:creationId xmlns:a16="http://schemas.microsoft.com/office/drawing/2014/main" id="{4892A057-81E5-9831-9B8C-EA6BB3006201}"/>
              </a:ext>
            </a:extLst>
          </p:cNvPr>
          <p:cNvSpPr/>
          <p:nvPr/>
        </p:nvSpPr>
        <p:spPr>
          <a:xfrm flipH="1">
            <a:off x="8744435" y="19418002"/>
            <a:ext cx="145872" cy="756405"/>
          </a:xfrm>
          <a:prstGeom prst="downArrow">
            <a:avLst/>
          </a:prstGeom>
          <a:solidFill>
            <a:schemeClr val="tx1">
              <a:lumMod val="65000"/>
              <a:lumOff val="35000"/>
            </a:schemeClr>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0" y="0"/>
            <a:ext cx="43891200" cy="5029200"/>
          </a:xfrm>
          <a:prstGeom prst="rect">
            <a:avLst/>
          </a:prstGeom>
          <a:solidFill>
            <a:srgbClr val="003699"/>
          </a:solidFill>
          <a:ln/>
        </p:spPr>
        <p:txBody>
          <a:bodyPr/>
          <a:lstStyle/>
          <a:p>
            <a:endParaRPr lang="en-US"/>
          </a:p>
        </p:txBody>
      </p:sp>
      <p:pic>
        <p:nvPicPr>
          <p:cNvPr id="3" name="Image 0" descr="/home/claude/pitt_logo.png"/>
          <p:cNvPicPr>
            <a:picLocks noChangeAspect="1"/>
          </p:cNvPicPr>
          <p:nvPr/>
        </p:nvPicPr>
        <p:blipFill>
          <a:blip r:embed="rId6"/>
          <a:stretch>
            <a:fillRect/>
          </a:stretch>
        </p:blipFill>
        <p:spPr>
          <a:xfrm>
            <a:off x="216566" y="1170900"/>
            <a:ext cx="9713194" cy="2127652"/>
          </a:xfrm>
          <a:prstGeom prst="rect">
            <a:avLst/>
          </a:prstGeom>
        </p:spPr>
      </p:pic>
      <p:sp>
        <p:nvSpPr>
          <p:cNvPr id="4" name="Text 1"/>
          <p:cNvSpPr/>
          <p:nvPr/>
        </p:nvSpPr>
        <p:spPr>
          <a:xfrm>
            <a:off x="9345521" y="518446"/>
            <a:ext cx="28009841" cy="2560320"/>
          </a:xfrm>
          <a:prstGeom prst="rect">
            <a:avLst/>
          </a:prstGeom>
          <a:noFill/>
          <a:ln/>
        </p:spPr>
        <p:txBody>
          <a:bodyPr wrap="square" lIns="0" tIns="0" rIns="0" bIns="0" rtlCol="0" anchor="t"/>
          <a:lstStyle/>
          <a:p>
            <a:pPr marL="0" indent="0" algn="ctr">
              <a:lnSpc>
                <a:spcPct val="108000"/>
              </a:lnSpc>
              <a:buNone/>
            </a:pPr>
            <a:r>
              <a:rPr lang="en-US" sz="7200" b="1" dirty="0">
                <a:solidFill>
                  <a:schemeClr val="accent4"/>
                </a:solidFill>
                <a:latin typeface="Arial" pitchFamily="34" charset="0"/>
                <a:ea typeface="Arial" pitchFamily="34" charset="-122"/>
                <a:cs typeface="Arial" pitchFamily="34" charset="-120"/>
              </a:rPr>
              <a:t>Conformal Inference of Individualized Treatment Rules</a:t>
            </a:r>
          </a:p>
          <a:p>
            <a:pPr marL="0" indent="0" algn="ctr">
              <a:lnSpc>
                <a:spcPct val="108000"/>
              </a:lnSpc>
              <a:buNone/>
            </a:pPr>
            <a:r>
              <a:rPr lang="en-US" sz="7200" b="1" dirty="0">
                <a:solidFill>
                  <a:schemeClr val="accent4"/>
                </a:solidFill>
                <a:latin typeface="Arial" pitchFamily="34" charset="0"/>
                <a:ea typeface="Arial" pitchFamily="34" charset="-122"/>
                <a:cs typeface="Arial" pitchFamily="34" charset="-120"/>
              </a:rPr>
              <a:t>under Distributional Shift</a:t>
            </a:r>
            <a:endParaRPr lang="en-US" sz="7200" dirty="0">
              <a:solidFill>
                <a:schemeClr val="accent4"/>
              </a:solidFill>
            </a:endParaRPr>
          </a:p>
        </p:txBody>
      </p:sp>
      <p:sp>
        <p:nvSpPr>
          <p:cNvPr id="5" name="Text 2"/>
          <p:cNvSpPr/>
          <p:nvPr/>
        </p:nvSpPr>
        <p:spPr>
          <a:xfrm>
            <a:off x="11069755" y="2990391"/>
            <a:ext cx="24762542" cy="731520"/>
          </a:xfrm>
          <a:prstGeom prst="rect">
            <a:avLst/>
          </a:prstGeom>
          <a:noFill/>
          <a:ln/>
        </p:spPr>
        <p:txBody>
          <a:bodyPr wrap="square" lIns="0" tIns="0" rIns="0" bIns="0" rtlCol="0" anchor="t"/>
          <a:lstStyle/>
          <a:p>
            <a:pPr marL="0" indent="0" algn="ctr">
              <a:buNone/>
            </a:pPr>
            <a:r>
              <a:rPr lang="en-US" sz="4400" b="1" dirty="0">
                <a:solidFill>
                  <a:srgbClr val="FFB81C"/>
                </a:solidFill>
                <a:latin typeface="Arial" pitchFamily="34" charset="0"/>
                <a:ea typeface="Arial" pitchFamily="34" charset="-122"/>
                <a:cs typeface="Arial" pitchFamily="34" charset="-120"/>
              </a:rPr>
              <a:t>Zhuodiao Kuang, Zhiyu Sui, Lu Tang, Ying Ding</a:t>
            </a:r>
            <a:endParaRPr lang="en-US" sz="4400" dirty="0"/>
          </a:p>
        </p:txBody>
      </p:sp>
      <p:sp>
        <p:nvSpPr>
          <p:cNvPr id="6" name="Text 3"/>
          <p:cNvSpPr/>
          <p:nvPr/>
        </p:nvSpPr>
        <p:spPr>
          <a:xfrm>
            <a:off x="14527163" y="3897980"/>
            <a:ext cx="17970909" cy="794550"/>
          </a:xfrm>
          <a:prstGeom prst="rect">
            <a:avLst/>
          </a:prstGeom>
          <a:noFill/>
          <a:ln/>
        </p:spPr>
        <p:txBody>
          <a:bodyPr wrap="square" lIns="0" tIns="0" rIns="0" bIns="0" rtlCol="0" anchor="t"/>
          <a:lstStyle/>
          <a:p>
            <a:pPr algn="ctr"/>
            <a:r>
              <a:rPr lang="en-US" sz="3600" b="1" dirty="0">
                <a:solidFill>
                  <a:srgbClr val="FFB81C"/>
                </a:solidFill>
                <a:latin typeface="Arial" pitchFamily="34" charset="0"/>
                <a:cs typeface="Arial" pitchFamily="34" charset="-120"/>
              </a:rPr>
              <a:t>Department of Biostatistics and Health Data Science, University of Pittsburgh</a:t>
            </a:r>
          </a:p>
        </p:txBody>
      </p:sp>
      <p:sp>
        <p:nvSpPr>
          <p:cNvPr id="7" name="Shape 4"/>
          <p:cNvSpPr/>
          <p:nvPr/>
        </p:nvSpPr>
        <p:spPr>
          <a:xfrm>
            <a:off x="319482" y="5320041"/>
            <a:ext cx="13129181" cy="1080655"/>
          </a:xfrm>
          <a:prstGeom prst="rect">
            <a:avLst/>
          </a:prstGeom>
          <a:solidFill>
            <a:srgbClr val="003699"/>
          </a:solidFill>
          <a:ln/>
        </p:spPr>
        <p:txBody>
          <a:bodyPr/>
          <a:lstStyle/>
          <a:p>
            <a:endParaRPr lang="en-US"/>
          </a:p>
        </p:txBody>
      </p:sp>
      <p:sp>
        <p:nvSpPr>
          <p:cNvPr id="8" name="Text 5"/>
          <p:cNvSpPr/>
          <p:nvPr/>
        </p:nvSpPr>
        <p:spPr>
          <a:xfrm>
            <a:off x="1695232" y="5600084"/>
            <a:ext cx="10387584" cy="502920"/>
          </a:xfrm>
          <a:prstGeom prst="rect">
            <a:avLst/>
          </a:prstGeom>
          <a:noFill/>
          <a:ln/>
        </p:spPr>
        <p:txBody>
          <a:bodyPr wrap="square" lIns="0" tIns="0" rIns="0" bIns="0" rtlCol="0" anchor="ctr"/>
          <a:lstStyle/>
          <a:p>
            <a:pPr marL="0" indent="0" algn="ctr">
              <a:buNone/>
            </a:pPr>
            <a:r>
              <a:rPr lang="en-US" sz="4800" b="1" dirty="0">
                <a:solidFill>
                  <a:srgbClr val="FFD100"/>
                </a:solidFill>
                <a:latin typeface="Arial" pitchFamily="34" charset="0"/>
                <a:ea typeface="Arial" pitchFamily="34" charset="-122"/>
                <a:cs typeface="Arial" pitchFamily="34" charset="-120"/>
              </a:rPr>
              <a:t>Introduction</a:t>
            </a:r>
            <a:endParaRPr lang="en-US" sz="4800" dirty="0"/>
          </a:p>
        </p:txBody>
      </p:sp>
      <p:sp>
        <p:nvSpPr>
          <p:cNvPr id="86" name="Shape 63"/>
          <p:cNvSpPr/>
          <p:nvPr/>
        </p:nvSpPr>
        <p:spPr>
          <a:xfrm>
            <a:off x="14335347" y="25277466"/>
            <a:ext cx="18544953" cy="721785"/>
          </a:xfrm>
          <a:prstGeom prst="rect">
            <a:avLst/>
          </a:prstGeom>
          <a:solidFill>
            <a:srgbClr val="003699"/>
          </a:solidFill>
          <a:ln/>
        </p:spPr>
        <p:txBody>
          <a:bodyPr/>
          <a:lstStyle/>
          <a:p>
            <a:endParaRPr lang="en-US"/>
          </a:p>
        </p:txBody>
      </p:sp>
      <p:sp>
        <p:nvSpPr>
          <p:cNvPr id="87" name="Text 64"/>
          <p:cNvSpPr/>
          <p:nvPr/>
        </p:nvSpPr>
        <p:spPr>
          <a:xfrm>
            <a:off x="19877750" y="25201244"/>
            <a:ext cx="7425633" cy="798007"/>
          </a:xfrm>
          <a:prstGeom prst="rect">
            <a:avLst/>
          </a:prstGeom>
          <a:noFill/>
          <a:ln/>
        </p:spPr>
        <p:txBody>
          <a:bodyPr wrap="square" lIns="0" tIns="0" rIns="0" bIns="0" rtlCol="0" anchor="ctr"/>
          <a:lstStyle/>
          <a:p>
            <a:pPr marL="0" indent="0" algn="ctr">
              <a:buNone/>
            </a:pPr>
            <a:r>
              <a:rPr lang="en-US" sz="4400" b="1" dirty="0">
                <a:solidFill>
                  <a:srgbClr val="FFD100"/>
                </a:solidFill>
                <a:latin typeface="Arial" pitchFamily="34" charset="0"/>
                <a:ea typeface="Arial" pitchFamily="34" charset="-122"/>
                <a:cs typeface="Arial" pitchFamily="34" charset="-120"/>
              </a:rPr>
              <a:t>Conclusions &amp; Discussion</a:t>
            </a:r>
            <a:endParaRPr lang="en-US" sz="4400" dirty="0"/>
          </a:p>
        </p:txBody>
      </p:sp>
      <p:sp>
        <p:nvSpPr>
          <p:cNvPr id="89" name="Shape 66"/>
          <p:cNvSpPr/>
          <p:nvPr/>
        </p:nvSpPr>
        <p:spPr>
          <a:xfrm>
            <a:off x="-1" y="31350155"/>
            <a:ext cx="43924175" cy="1568245"/>
          </a:xfrm>
          <a:prstGeom prst="rect">
            <a:avLst/>
          </a:prstGeom>
          <a:solidFill>
            <a:srgbClr val="003699"/>
          </a:solidFill>
          <a:ln/>
        </p:spPr>
        <p:txBody>
          <a:bodyPr/>
          <a:lstStyle/>
          <a:p>
            <a:endParaRPr lang="en-US"/>
          </a:p>
        </p:txBody>
      </p:sp>
      <p:sp>
        <p:nvSpPr>
          <p:cNvPr id="91" name="Text 68"/>
          <p:cNvSpPr/>
          <p:nvPr/>
        </p:nvSpPr>
        <p:spPr>
          <a:xfrm>
            <a:off x="216566" y="31482805"/>
            <a:ext cx="43304669" cy="1271110"/>
          </a:xfrm>
          <a:prstGeom prst="rect">
            <a:avLst/>
          </a:prstGeom>
          <a:noFill/>
          <a:ln/>
        </p:spPr>
        <p:txBody>
          <a:bodyPr wrap="square" lIns="0" tIns="0" rIns="0" bIns="0" rtlCol="0" anchor="t"/>
          <a:lstStyle/>
          <a:p>
            <a:pPr>
              <a:spcAft>
                <a:spcPts val="200"/>
              </a:spcAft>
            </a:pPr>
            <a:r>
              <a:rPr lang="en-US" sz="2400" b="1" dirty="0">
                <a:solidFill>
                  <a:schemeClr val="bg1"/>
                </a:solidFill>
              </a:rPr>
              <a:t>Key References: </a:t>
            </a:r>
            <a:r>
              <a:rPr lang="en-US" sz="2000" dirty="0">
                <a:solidFill>
                  <a:schemeClr val="bg1"/>
                </a:solidFill>
              </a:rPr>
              <a:t>Vovk, V., </a:t>
            </a:r>
            <a:r>
              <a:rPr lang="en-US" sz="2000" dirty="0" err="1">
                <a:solidFill>
                  <a:schemeClr val="bg1"/>
                </a:solidFill>
              </a:rPr>
              <a:t>Gammerman</a:t>
            </a:r>
            <a:r>
              <a:rPr lang="en-US" sz="2000" dirty="0">
                <a:solidFill>
                  <a:schemeClr val="bg1"/>
                </a:solidFill>
              </a:rPr>
              <a:t>, A., and Shafer, G. (2005). </a:t>
            </a:r>
            <a:r>
              <a:rPr lang="en-US" sz="2000" i="1" dirty="0">
                <a:solidFill>
                  <a:schemeClr val="bg1"/>
                </a:solidFill>
              </a:rPr>
              <a:t>Algorithmic Learning in a Random World</a:t>
            </a:r>
            <a:r>
              <a:rPr lang="en-US" sz="2000" dirty="0">
                <a:solidFill>
                  <a:schemeClr val="bg1"/>
                </a:solidFill>
              </a:rPr>
              <a:t>. Springer-Verlag. </a:t>
            </a:r>
            <a:r>
              <a:rPr lang="en-US" sz="2000" dirty="0" err="1">
                <a:solidFill>
                  <a:schemeClr val="bg1"/>
                </a:solidFill>
              </a:rPr>
              <a:t>Tibshirani</a:t>
            </a:r>
            <a:r>
              <a:rPr lang="en-US" sz="2000" dirty="0">
                <a:solidFill>
                  <a:schemeClr val="bg1"/>
                </a:solidFill>
              </a:rPr>
              <a:t>, R.J., Barber, R.F., </a:t>
            </a:r>
            <a:r>
              <a:rPr lang="en-US" sz="2000" dirty="0" err="1">
                <a:solidFill>
                  <a:schemeClr val="bg1"/>
                </a:solidFill>
              </a:rPr>
              <a:t>Candès</a:t>
            </a:r>
            <a:r>
              <a:rPr lang="en-US" sz="2000" dirty="0">
                <a:solidFill>
                  <a:schemeClr val="bg1"/>
                </a:solidFill>
              </a:rPr>
              <a:t>, E.J., et al. (2019). Conformal prediction under covariate shift. </a:t>
            </a:r>
            <a:r>
              <a:rPr lang="en-US" sz="2000" i="1" dirty="0">
                <a:solidFill>
                  <a:schemeClr val="bg1"/>
                </a:solidFill>
              </a:rPr>
              <a:t>Curran Associates Inc.</a:t>
            </a:r>
            <a:r>
              <a:rPr lang="en-US" sz="2000" dirty="0">
                <a:solidFill>
                  <a:schemeClr val="bg1"/>
                </a:solidFill>
              </a:rPr>
              <a:t> Yang, Y., Kuchibhotla, A.K., and </a:t>
            </a:r>
            <a:r>
              <a:rPr lang="en-US" sz="2000" dirty="0" err="1">
                <a:solidFill>
                  <a:schemeClr val="bg1"/>
                </a:solidFill>
              </a:rPr>
              <a:t>Tchetgen</a:t>
            </a:r>
            <a:r>
              <a:rPr lang="en-US" sz="2000" dirty="0">
                <a:solidFill>
                  <a:schemeClr val="bg1"/>
                </a:solidFill>
              </a:rPr>
              <a:t> </a:t>
            </a:r>
            <a:r>
              <a:rPr lang="en-US" sz="2000" dirty="0" err="1">
                <a:solidFill>
                  <a:schemeClr val="bg1"/>
                </a:solidFill>
              </a:rPr>
              <a:t>Tchetgen</a:t>
            </a:r>
            <a:r>
              <a:rPr lang="en-US" sz="2000" dirty="0">
                <a:solidFill>
                  <a:schemeClr val="bg1"/>
                </a:solidFill>
              </a:rPr>
              <a:t>, E. (2024). Doubly robust calibration of prediction sets under covariate shift. </a:t>
            </a:r>
            <a:r>
              <a:rPr lang="en-US" sz="2000" i="1" dirty="0">
                <a:solidFill>
                  <a:schemeClr val="bg1"/>
                </a:solidFill>
              </a:rPr>
              <a:t>Journal of the Royal Statistical Society Series B</a:t>
            </a:r>
            <a:r>
              <a:rPr lang="en-US" sz="2000" dirty="0">
                <a:solidFill>
                  <a:schemeClr val="bg1"/>
                </a:solidFill>
              </a:rPr>
              <a:t>, 86(4), 943–965. Liu, Y., Levis, A.W., Normand, S.L., et al. (2024). Multi-source conformal inference under distribution shift. </a:t>
            </a:r>
            <a:r>
              <a:rPr lang="en-US" sz="2000" i="1" dirty="0">
                <a:solidFill>
                  <a:schemeClr val="bg1"/>
                </a:solidFill>
              </a:rPr>
              <a:t>arXiv:2405.09331</a:t>
            </a:r>
            <a:r>
              <a:rPr lang="en-US" sz="2000" dirty="0">
                <a:solidFill>
                  <a:schemeClr val="bg1"/>
                </a:solidFill>
              </a:rPr>
              <a:t>. Zhang, Y., Shi, C., and Luo, S. (2023). Conformal off-policy prediction. </a:t>
            </a:r>
            <a:r>
              <a:rPr lang="en-US" sz="2000" i="1" dirty="0">
                <a:solidFill>
                  <a:schemeClr val="bg1"/>
                </a:solidFill>
              </a:rPr>
              <a:t>Proceedings of the 26th International Conference on Artificial Intelligence and Statistics (AISTATS)</a:t>
            </a:r>
            <a:r>
              <a:rPr lang="en-US" sz="2000" dirty="0">
                <a:solidFill>
                  <a:schemeClr val="bg1"/>
                </a:solidFill>
              </a:rPr>
              <a:t>, 206, 2751–2768. Taufiq, M.F., Ton, J.F., Cornish, R., et al. (2022). Conformal off-policy prediction in contextual bandits. </a:t>
            </a:r>
            <a:r>
              <a:rPr lang="en-US" sz="2000" i="1" dirty="0">
                <a:solidFill>
                  <a:schemeClr val="bg1"/>
                </a:solidFill>
              </a:rPr>
              <a:t>arXiv:2206.04405</a:t>
            </a:r>
            <a:r>
              <a:rPr lang="en-US" sz="2000" dirty="0">
                <a:solidFill>
                  <a:schemeClr val="bg1"/>
                </a:solidFill>
              </a:rPr>
              <a:t>. Lei, L. and </a:t>
            </a:r>
            <a:r>
              <a:rPr lang="en-US" sz="2000" dirty="0" err="1">
                <a:solidFill>
                  <a:schemeClr val="bg1"/>
                </a:solidFill>
              </a:rPr>
              <a:t>Candès</a:t>
            </a:r>
            <a:r>
              <a:rPr lang="en-US" sz="2000" dirty="0">
                <a:solidFill>
                  <a:schemeClr val="bg1"/>
                </a:solidFill>
              </a:rPr>
              <a:t>, E.J. (2021). Conformal inference of counterfactuals and individual treatment effects. </a:t>
            </a:r>
            <a:r>
              <a:rPr lang="en-US" sz="2000" i="1" dirty="0">
                <a:solidFill>
                  <a:schemeClr val="bg1"/>
                </a:solidFill>
              </a:rPr>
              <a:t>Journal of the Royal Statistical Society Series B</a:t>
            </a:r>
            <a:r>
              <a:rPr lang="en-US" sz="2000" dirty="0">
                <a:solidFill>
                  <a:schemeClr val="bg1"/>
                </a:solidFill>
              </a:rPr>
              <a:t>, 83(5), 911–938. Romano, Y., Patterson, E., and </a:t>
            </a:r>
            <a:r>
              <a:rPr lang="en-US" sz="2000" dirty="0" err="1">
                <a:solidFill>
                  <a:schemeClr val="bg1"/>
                </a:solidFill>
              </a:rPr>
              <a:t>Candès</a:t>
            </a:r>
            <a:r>
              <a:rPr lang="en-US" sz="2000" dirty="0">
                <a:solidFill>
                  <a:schemeClr val="bg1"/>
                </a:solidFill>
              </a:rPr>
              <a:t>, E. (2019). </a:t>
            </a:r>
            <a:r>
              <a:rPr lang="en-US" sz="2000" dirty="0" err="1">
                <a:solidFill>
                  <a:schemeClr val="bg1"/>
                </a:solidFill>
              </a:rPr>
              <a:t>Conformalized</a:t>
            </a:r>
            <a:r>
              <a:rPr lang="en-US" sz="2000" dirty="0">
                <a:solidFill>
                  <a:schemeClr val="bg1"/>
                </a:solidFill>
              </a:rPr>
              <a:t> quantile regression. </a:t>
            </a:r>
            <a:r>
              <a:rPr lang="en-US" sz="2000" i="1" dirty="0">
                <a:solidFill>
                  <a:schemeClr val="bg1"/>
                </a:solidFill>
              </a:rPr>
              <a:t>Advances in Neural Information Processing Systems</a:t>
            </a:r>
            <a:r>
              <a:rPr lang="en-US" sz="2000" dirty="0">
                <a:solidFill>
                  <a:schemeClr val="bg1"/>
                </a:solidFill>
              </a:rPr>
              <a:t>, 32. Rubin, D.B. (2005). Causal inference using potential outcomes. </a:t>
            </a:r>
            <a:r>
              <a:rPr lang="en-US" sz="2000" i="1" dirty="0">
                <a:solidFill>
                  <a:schemeClr val="bg1"/>
                </a:solidFill>
              </a:rPr>
              <a:t>Journal of the American Statistical Association</a:t>
            </a:r>
            <a:r>
              <a:rPr lang="en-US" sz="2000" dirty="0">
                <a:solidFill>
                  <a:schemeClr val="bg1"/>
                </a:solidFill>
              </a:rPr>
              <a:t>, 100(469), 322–331. Han, L., Hou, J., Cho, K., et al. (2025). Federated adaptive causal estimation (FACE) of target treatment effects. </a:t>
            </a:r>
            <a:r>
              <a:rPr lang="en-US" sz="2000" i="1" dirty="0">
                <a:solidFill>
                  <a:schemeClr val="bg1"/>
                </a:solidFill>
              </a:rPr>
              <a:t>Journal of the American Statistical Association</a:t>
            </a:r>
            <a:r>
              <a:rPr lang="en-US" sz="2000" dirty="0">
                <a:solidFill>
                  <a:schemeClr val="bg1"/>
                </a:solidFill>
              </a:rPr>
              <a:t>, 0(ja), 1–25. </a:t>
            </a:r>
            <a:endParaRPr lang="en-US" sz="2800" dirty="0">
              <a:solidFill>
                <a:schemeClr val="bg1"/>
              </a:solidFill>
            </a:endParaRPr>
          </a:p>
        </p:txBody>
      </p:sp>
      <p:sp>
        <p:nvSpPr>
          <p:cNvPr id="92" name="Text 69"/>
          <p:cNvSpPr/>
          <p:nvPr/>
        </p:nvSpPr>
        <p:spPr>
          <a:xfrm>
            <a:off x="39135303" y="32494344"/>
            <a:ext cx="4572000" cy="365760"/>
          </a:xfrm>
          <a:prstGeom prst="rect">
            <a:avLst/>
          </a:prstGeom>
          <a:noFill/>
          <a:ln/>
        </p:spPr>
        <p:txBody>
          <a:bodyPr wrap="square" lIns="0" tIns="0" rIns="0" bIns="0" rtlCol="0" anchor="ctr"/>
          <a:lstStyle/>
          <a:p>
            <a:pPr marL="0" indent="0" algn="l">
              <a:buNone/>
            </a:pPr>
            <a:r>
              <a:rPr lang="en-US" sz="2400" dirty="0">
                <a:solidFill>
                  <a:schemeClr val="bg1"/>
                </a:solidFill>
                <a:latin typeface="Arial" pitchFamily="34" charset="0"/>
                <a:ea typeface="Arial" pitchFamily="34" charset="-122"/>
                <a:cs typeface="Arial" pitchFamily="34" charset="-120"/>
              </a:rPr>
              <a:t>Zhuodiao Kuang, zhk22@pitt.edu</a:t>
            </a:r>
            <a:endParaRPr lang="en-US" sz="2400" dirty="0">
              <a:solidFill>
                <a:schemeClr val="bg1"/>
              </a:solidFill>
            </a:endParaRPr>
          </a:p>
        </p:txBody>
      </p:sp>
      <p:sp>
        <p:nvSpPr>
          <p:cNvPr id="106" name="Shape 4">
            <a:extLst>
              <a:ext uri="{FF2B5EF4-FFF2-40B4-BE49-F238E27FC236}">
                <a16:creationId xmlns:a16="http://schemas.microsoft.com/office/drawing/2014/main" id="{547257C5-7F70-A0AA-6391-2E5BADD08EF4}"/>
              </a:ext>
            </a:extLst>
          </p:cNvPr>
          <p:cNvSpPr/>
          <p:nvPr/>
        </p:nvSpPr>
        <p:spPr>
          <a:xfrm>
            <a:off x="14227046" y="5352052"/>
            <a:ext cx="18692280" cy="1086470"/>
          </a:xfrm>
          <a:prstGeom prst="rect">
            <a:avLst/>
          </a:prstGeom>
          <a:solidFill>
            <a:srgbClr val="003699"/>
          </a:solidFill>
          <a:ln/>
        </p:spPr>
        <p:txBody>
          <a:bodyPr/>
          <a:lstStyle/>
          <a:p>
            <a:endParaRPr lang="en-US"/>
          </a:p>
        </p:txBody>
      </p:sp>
      <p:sp>
        <p:nvSpPr>
          <p:cNvPr id="109" name="TextBox 108">
            <a:extLst>
              <a:ext uri="{FF2B5EF4-FFF2-40B4-BE49-F238E27FC236}">
                <a16:creationId xmlns:a16="http://schemas.microsoft.com/office/drawing/2014/main" id="{953D528D-28B9-3520-31AA-5A01A7E435F2}"/>
              </a:ext>
            </a:extLst>
          </p:cNvPr>
          <p:cNvSpPr txBox="1"/>
          <p:nvPr/>
        </p:nvSpPr>
        <p:spPr>
          <a:xfrm>
            <a:off x="14781760" y="5536290"/>
            <a:ext cx="18137566" cy="769441"/>
          </a:xfrm>
          <a:prstGeom prst="rect">
            <a:avLst/>
          </a:prstGeom>
          <a:noFill/>
        </p:spPr>
        <p:txBody>
          <a:bodyPr wrap="square">
            <a:spAutoFit/>
          </a:bodyPr>
          <a:lstStyle/>
          <a:p>
            <a:pPr marL="0" indent="0" algn="ctr">
              <a:buNone/>
            </a:pPr>
            <a:r>
              <a:rPr lang="en-US" sz="4400" b="1" dirty="0">
                <a:solidFill>
                  <a:srgbClr val="FFD100"/>
                </a:solidFill>
                <a:latin typeface="Arial" pitchFamily="34" charset="0"/>
                <a:cs typeface="Arial" pitchFamily="34" charset="-120"/>
              </a:rPr>
              <a:t>Problem Setup &amp; Method Summary</a:t>
            </a:r>
            <a:endParaRPr lang="en-US" sz="4400" dirty="0"/>
          </a:p>
        </p:txBody>
      </p:sp>
      <p:graphicFrame>
        <p:nvGraphicFramePr>
          <p:cNvPr id="33" name="Table 32">
            <a:extLst>
              <a:ext uri="{FF2B5EF4-FFF2-40B4-BE49-F238E27FC236}">
                <a16:creationId xmlns:a16="http://schemas.microsoft.com/office/drawing/2014/main" id="{457E19B0-B72C-5B10-195C-22D9FA0C7BD0}"/>
              </a:ext>
            </a:extLst>
          </p:cNvPr>
          <p:cNvGraphicFramePr>
            <a:graphicFrameLocks noGrp="1"/>
          </p:cNvGraphicFramePr>
          <p:nvPr>
            <p:extLst>
              <p:ext uri="{D42A27DB-BD31-4B8C-83A1-F6EECF244321}">
                <p14:modId xmlns:p14="http://schemas.microsoft.com/office/powerpoint/2010/main" val="879691681"/>
              </p:ext>
            </p:extLst>
          </p:nvPr>
        </p:nvGraphicFramePr>
        <p:xfrm>
          <a:off x="14335347" y="16352849"/>
          <a:ext cx="18301747" cy="4084320"/>
        </p:xfrm>
        <a:graphic>
          <a:graphicData uri="http://schemas.openxmlformats.org/drawingml/2006/table">
            <a:tbl>
              <a:tblPr/>
              <a:tblGrid>
                <a:gridCol w="2765617">
                  <a:extLst>
                    <a:ext uri="{9D8B030D-6E8A-4147-A177-3AD203B41FA5}">
                      <a16:colId xmlns:a16="http://schemas.microsoft.com/office/drawing/2014/main" val="2626138481"/>
                    </a:ext>
                  </a:extLst>
                </a:gridCol>
                <a:gridCol w="1961087">
                  <a:extLst>
                    <a:ext uri="{9D8B030D-6E8A-4147-A177-3AD203B41FA5}">
                      <a16:colId xmlns:a16="http://schemas.microsoft.com/office/drawing/2014/main" val="1017424986"/>
                    </a:ext>
                  </a:extLst>
                </a:gridCol>
                <a:gridCol w="2083449">
                  <a:extLst>
                    <a:ext uri="{9D8B030D-6E8A-4147-A177-3AD203B41FA5}">
                      <a16:colId xmlns:a16="http://schemas.microsoft.com/office/drawing/2014/main" val="3254361893"/>
                    </a:ext>
                  </a:extLst>
                </a:gridCol>
                <a:gridCol w="1981200">
                  <a:extLst>
                    <a:ext uri="{9D8B030D-6E8A-4147-A177-3AD203B41FA5}">
                      <a16:colId xmlns:a16="http://schemas.microsoft.com/office/drawing/2014/main" val="2894221180"/>
                    </a:ext>
                  </a:extLst>
                </a:gridCol>
                <a:gridCol w="2819400">
                  <a:extLst>
                    <a:ext uri="{9D8B030D-6E8A-4147-A177-3AD203B41FA5}">
                      <a16:colId xmlns:a16="http://schemas.microsoft.com/office/drawing/2014/main" val="2428958283"/>
                    </a:ext>
                  </a:extLst>
                </a:gridCol>
                <a:gridCol w="3272897">
                  <a:extLst>
                    <a:ext uri="{9D8B030D-6E8A-4147-A177-3AD203B41FA5}">
                      <a16:colId xmlns:a16="http://schemas.microsoft.com/office/drawing/2014/main" val="2627349675"/>
                    </a:ext>
                  </a:extLst>
                </a:gridCol>
                <a:gridCol w="3418097">
                  <a:extLst>
                    <a:ext uri="{9D8B030D-6E8A-4147-A177-3AD203B41FA5}">
                      <a16:colId xmlns:a16="http://schemas.microsoft.com/office/drawing/2014/main" val="2472061854"/>
                    </a:ext>
                  </a:extLst>
                </a:gridCol>
              </a:tblGrid>
              <a:tr h="891513">
                <a:tc>
                  <a:txBody>
                    <a:bodyPr/>
                    <a:lstStyle/>
                    <a:p>
                      <a:pPr>
                        <a:buNone/>
                      </a:pPr>
                      <a:r>
                        <a:rPr lang="en-US" sz="3600" b="1" dirty="0">
                          <a:solidFill>
                            <a:srgbClr val="FFD100"/>
                          </a:solidFill>
                        </a:rPr>
                        <a:t>Method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Type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Internal source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External sources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Subsampling correction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Covariate shift correction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tc>
                  <a:txBody>
                    <a:bodyPr/>
                    <a:lstStyle/>
                    <a:p>
                      <a:pPr>
                        <a:buNone/>
                      </a:pPr>
                      <a:r>
                        <a:rPr lang="en-US" sz="3600" b="1" dirty="0">
                          <a:solidFill>
                            <a:srgbClr val="FFD100"/>
                          </a:solidFill>
                        </a:rPr>
                        <a:t>Handles CCOD violation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699"/>
                    </a:solidFill>
                  </a:tcPr>
                </a:tc>
                <a:extLst>
                  <a:ext uri="{0D108BD9-81ED-4DB2-BD59-A6C34878D82A}">
                    <a16:rowId xmlns:a16="http://schemas.microsoft.com/office/drawing/2014/main" val="1361232922"/>
                  </a:ext>
                </a:extLst>
              </a:tr>
              <a:tr h="379135">
                <a:tc>
                  <a:txBody>
                    <a:bodyPr/>
                    <a:lstStyle/>
                    <a:p>
                      <a:pPr>
                        <a:buNone/>
                      </a:pPr>
                      <a:r>
                        <a:rPr lang="en-US" sz="3200" b="1" dirty="0"/>
                        <a:t>SM</a:t>
                      </a:r>
                      <a:endParaRPr lang="en-US" sz="3200" dirty="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Baseline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5665136"/>
                  </a:ext>
                </a:extLst>
              </a:tr>
              <a:tr h="379135">
                <a:tc>
                  <a:txBody>
                    <a:bodyPr/>
                    <a:lstStyle/>
                    <a:p>
                      <a:pPr>
                        <a:buNone/>
                      </a:pPr>
                      <a:r>
                        <a:rPr lang="en-US" sz="3200" b="1"/>
                        <a:t>COPP</a:t>
                      </a:r>
                      <a:endParaRPr lang="en-US" sz="3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Baseline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No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84734838"/>
                  </a:ext>
                </a:extLst>
              </a:tr>
              <a:tr h="379135">
                <a:tc>
                  <a:txBody>
                    <a:bodyPr/>
                    <a:lstStyle/>
                    <a:p>
                      <a:pPr>
                        <a:buNone/>
                      </a:pPr>
                      <a:r>
                        <a:rPr lang="en-US" sz="3200" b="1" dirty="0">
                          <a:solidFill>
                            <a:srgbClr val="FF0000"/>
                          </a:solidFill>
                        </a:rPr>
                        <a:t>tCOPP-W</a:t>
                      </a:r>
                      <a:endParaRPr lang="en-US" sz="3200" dirty="0">
                        <a:solidFill>
                          <a:srgbClr val="FF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Proposed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07704748"/>
                  </a:ext>
                </a:extLst>
              </a:tr>
              <a:tr h="379135">
                <a:tc>
                  <a:txBody>
                    <a:bodyPr/>
                    <a:lstStyle/>
                    <a:p>
                      <a:pPr>
                        <a:buNone/>
                      </a:pPr>
                      <a:r>
                        <a:rPr lang="en-US" sz="3200" b="1" dirty="0">
                          <a:solidFill>
                            <a:srgbClr val="FF0000"/>
                          </a:solidFill>
                        </a:rPr>
                        <a:t>tCOPP-EIF(I)</a:t>
                      </a:r>
                      <a:endParaRPr lang="en-US" sz="3200" dirty="0">
                        <a:solidFill>
                          <a:srgbClr val="FF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Proposed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2207125"/>
                  </a:ext>
                </a:extLst>
              </a:tr>
              <a:tr h="379135">
                <a:tc>
                  <a:txBody>
                    <a:bodyPr/>
                    <a:lstStyle/>
                    <a:p>
                      <a:pPr>
                        <a:buNone/>
                      </a:pPr>
                      <a:r>
                        <a:rPr lang="en-US" sz="3200" b="1" dirty="0">
                          <a:solidFill>
                            <a:srgbClr val="FF0000"/>
                          </a:solidFill>
                        </a:rPr>
                        <a:t>tCOPP-EIF(M)</a:t>
                      </a:r>
                      <a:endParaRPr lang="en-US" sz="3200" dirty="0">
                        <a:solidFill>
                          <a:srgbClr val="FF0000"/>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Proposed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𝔻₁</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𝔻₂, …, 𝔻ₖ</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Yes (federated)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22607472"/>
                  </a:ext>
                </a:extLst>
              </a:tr>
            </a:tbl>
          </a:graphicData>
        </a:graphic>
      </p:graphicFrame>
      <p:sp>
        <p:nvSpPr>
          <p:cNvPr id="26" name="Rectangle 25">
            <a:extLst>
              <a:ext uri="{FF2B5EF4-FFF2-40B4-BE49-F238E27FC236}">
                <a16:creationId xmlns:a16="http://schemas.microsoft.com/office/drawing/2014/main" id="{B10F765D-F03F-8BAC-0C0C-7D71B2493BD2}"/>
              </a:ext>
            </a:extLst>
          </p:cNvPr>
          <p:cNvSpPr/>
          <p:nvPr/>
        </p:nvSpPr>
        <p:spPr>
          <a:xfrm>
            <a:off x="216566" y="7154880"/>
            <a:ext cx="4794107" cy="1383718"/>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30" name="Picture 6" descr="59 Best Snowball images in 2019 | Backgrounds, Rabbits, Snowball">
            <a:extLst>
              <a:ext uri="{FF2B5EF4-FFF2-40B4-BE49-F238E27FC236}">
                <a16:creationId xmlns:a16="http://schemas.microsoft.com/office/drawing/2014/main" id="{E27EE268-B739-F603-CEB1-8C53E69AA39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92292" y="8431513"/>
            <a:ext cx="1678938" cy="1603197"/>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3C156C8F-73B1-3F81-806E-9329397C9D8A}"/>
              </a:ext>
            </a:extLst>
          </p:cNvPr>
          <p:cNvSpPr txBox="1"/>
          <p:nvPr/>
        </p:nvSpPr>
        <p:spPr>
          <a:xfrm>
            <a:off x="2587119" y="20060146"/>
            <a:ext cx="10129155" cy="1323439"/>
          </a:xfrm>
          <a:prstGeom prst="rect">
            <a:avLst/>
          </a:prstGeom>
          <a:noFill/>
        </p:spPr>
        <p:txBody>
          <a:bodyPr wrap="square">
            <a:spAutoFit/>
          </a:bodyPr>
          <a:lstStyle/>
          <a:p>
            <a:pPr algn="ctr"/>
            <a:r>
              <a:rPr lang="en-US" sz="4000" b="1" dirty="0">
                <a:solidFill>
                  <a:srgbClr val="FF0000"/>
                </a:solidFill>
              </a:rPr>
              <a:t>All of this can be realized </a:t>
            </a:r>
            <a:r>
              <a:rPr lang="en-US" sz="4000" b="1" i="1" dirty="0">
                <a:solidFill>
                  <a:srgbClr val="FF0000"/>
                </a:solidFill>
              </a:rPr>
              <a:t>before</a:t>
            </a:r>
            <a:r>
              <a:rPr lang="en-US" sz="4000" b="1" dirty="0">
                <a:solidFill>
                  <a:srgbClr val="FF0000"/>
                </a:solidFill>
              </a:rPr>
              <a:t> the treatment rule is deployed on the target population.</a:t>
            </a:r>
          </a:p>
        </p:txBody>
      </p:sp>
      <p:sp>
        <p:nvSpPr>
          <p:cNvPr id="38" name="Rectangle 7">
            <a:extLst>
              <a:ext uri="{FF2B5EF4-FFF2-40B4-BE49-F238E27FC236}">
                <a16:creationId xmlns:a16="http://schemas.microsoft.com/office/drawing/2014/main" id="{FE476391-4BEE-755D-F774-2BF50474379E}"/>
              </a:ext>
            </a:extLst>
          </p:cNvPr>
          <p:cNvSpPr>
            <a:spLocks noChangeArrowheads="1"/>
          </p:cNvSpPr>
          <p:nvPr/>
        </p:nvSpPr>
        <p:spPr bwMode="auto">
          <a:xfrm>
            <a:off x="14268082" y="25627735"/>
            <a:ext cx="18852936"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Proposed a conformal inference framework that provides </a:t>
            </a:r>
            <a:r>
              <a:rPr kumimoji="0" lang="en-US" altLang="en-US" sz="3200" b="1" i="0" u="none" strike="noStrike" cap="none" normalizeH="0" baseline="0" dirty="0">
                <a:ln>
                  <a:noFill/>
                </a:ln>
                <a:solidFill>
                  <a:schemeClr val="tx1"/>
                </a:solidFill>
                <a:effectLst/>
                <a:latin typeface="Arial" panose="020B0604020202020204" pitchFamily="34" charset="0"/>
              </a:rPr>
              <a:t>personalized prediction intervals</a:t>
            </a:r>
            <a:r>
              <a:rPr kumimoji="0" lang="en-US" altLang="en-US" sz="3200" b="0" i="0" u="none" strike="noStrike" cap="none" normalizeH="0" baseline="0" dirty="0">
                <a:ln>
                  <a:noFill/>
                </a:ln>
                <a:solidFill>
                  <a:schemeClr val="tx1"/>
                </a:solidFill>
                <a:effectLst/>
                <a:latin typeface="Arial" panose="020B0604020202020204" pitchFamily="34" charset="0"/>
              </a:rPr>
              <a:t> for treatment outcomes before a new treatment rule is deployed</a:t>
            </a:r>
            <a:r>
              <a:rPr lang="en-US" altLang="en-US" sz="3200" dirty="0">
                <a:latin typeface="Arial" panose="020B0604020202020204" pitchFamily="34" charset="0"/>
              </a:rPr>
              <a:t> </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Method relies on assumptions such as </a:t>
            </a:r>
            <a:r>
              <a:rPr kumimoji="0" lang="en-US" altLang="en-US" sz="3200" b="1" i="0" u="none" strike="noStrike" cap="none" normalizeH="0" baseline="0" dirty="0">
                <a:ln>
                  <a:noFill/>
                </a:ln>
                <a:solidFill>
                  <a:schemeClr val="tx1"/>
                </a:solidFill>
                <a:effectLst/>
                <a:latin typeface="Arial" panose="020B0604020202020204" pitchFamily="34" charset="0"/>
              </a:rPr>
              <a:t>population overlap</a:t>
            </a:r>
            <a:r>
              <a:rPr kumimoji="0" lang="en-US" altLang="en-US" sz="3200" b="0" i="0" u="none" strike="noStrike" cap="none" normalizeH="0" baseline="0" dirty="0">
                <a:ln>
                  <a:noFill/>
                </a:ln>
                <a:solidFill>
                  <a:schemeClr val="tx1"/>
                </a:solidFill>
                <a:effectLst/>
                <a:latin typeface="Arial" panose="020B0604020202020204" pitchFamily="34" charset="0"/>
              </a:rPr>
              <a:t> and </a:t>
            </a:r>
            <a:r>
              <a:rPr kumimoji="0" lang="en-US" altLang="en-US" sz="3200" b="1" i="0" u="none" strike="noStrike" cap="none" normalizeH="0" baseline="0" dirty="0">
                <a:ln>
                  <a:noFill/>
                </a:ln>
                <a:solidFill>
                  <a:schemeClr val="tx1"/>
                </a:solidFill>
                <a:effectLst/>
                <a:latin typeface="Arial" panose="020B0604020202020204" pitchFamily="34" charset="0"/>
              </a:rPr>
              <a:t>no unmeasured confounding</a:t>
            </a:r>
            <a:r>
              <a:rPr kumimoji="0" lang="en-US" altLang="en-US" sz="3200" b="0" i="0" u="none" strike="noStrike" cap="none" normalizeH="0" baseline="0" dirty="0">
                <a:ln>
                  <a:noFill/>
                </a:ln>
                <a:solidFill>
                  <a:schemeClr val="tx1"/>
                </a:solidFill>
                <a:effectLst/>
                <a:latin typeface="Arial" panose="020B0604020202020204" pitchFamily="34" charset="0"/>
              </a:rPr>
              <a:t> — violations may affect coverage.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Current framework focuses on </a:t>
            </a:r>
            <a:r>
              <a:rPr kumimoji="0" lang="en-US" altLang="en-US" sz="3200" b="1" i="0" u="none" strike="noStrike" cap="none" normalizeH="0" baseline="0" dirty="0">
                <a:ln>
                  <a:noFill/>
                </a:ln>
                <a:solidFill>
                  <a:schemeClr val="tx1"/>
                </a:solidFill>
                <a:effectLst/>
                <a:latin typeface="Arial" panose="020B0604020202020204" pitchFamily="34" charset="0"/>
              </a:rPr>
              <a:t>binary treatments</a:t>
            </a:r>
            <a:r>
              <a:rPr kumimoji="0" lang="en-US" altLang="en-US" sz="3200" b="0" i="0" u="none" strike="noStrike" cap="none" normalizeH="0" baseline="0" dirty="0">
                <a:ln>
                  <a:noFill/>
                </a:ln>
                <a:solidFill>
                  <a:schemeClr val="tx1"/>
                </a:solidFill>
                <a:effectLst/>
                <a:latin typeface="Arial" panose="020B0604020202020204" pitchFamily="34" charset="0"/>
              </a:rPr>
              <a:t>; extension to multi-arm or continuous treatment settings is a natural next step.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Combining conformal prediction with </a:t>
            </a:r>
            <a:r>
              <a:rPr kumimoji="0" lang="en-US" altLang="en-US" sz="3200" b="1" i="0" u="none" strike="noStrike" cap="none" normalizeH="0" baseline="0" dirty="0">
                <a:ln>
                  <a:noFill/>
                </a:ln>
                <a:solidFill>
                  <a:schemeClr val="tx1"/>
                </a:solidFill>
                <a:effectLst/>
                <a:latin typeface="Arial" panose="020B0604020202020204" pitchFamily="34" charset="0"/>
              </a:rPr>
              <a:t>adaptive or learned treatment rules</a:t>
            </a:r>
            <a:r>
              <a:rPr kumimoji="0" lang="en-US" altLang="en-US" sz="3200" b="0" i="0" u="none" strike="noStrike" cap="none" normalizeH="0" baseline="0" dirty="0">
                <a:ln>
                  <a:noFill/>
                </a:ln>
                <a:solidFill>
                  <a:schemeClr val="tx1"/>
                </a:solidFill>
                <a:effectLst/>
                <a:latin typeface="Arial" panose="020B0604020202020204" pitchFamily="34" charset="0"/>
              </a:rPr>
              <a:t> is a promising future direction.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0" i="0" u="none" strike="noStrike" cap="none" normalizeH="0" baseline="0" dirty="0">
                <a:ln>
                  <a:noFill/>
                </a:ln>
                <a:solidFill>
                  <a:schemeClr val="tx1"/>
                </a:solidFill>
                <a:effectLst/>
                <a:latin typeface="Arial" panose="020B0604020202020204" pitchFamily="34" charset="0"/>
              </a:rPr>
              <a:t>Sepsis application demonstrates the practical value of providing </a:t>
            </a:r>
            <a:r>
              <a:rPr kumimoji="0" lang="en-US" altLang="en-US" sz="3200" b="1" i="0" u="none" strike="noStrike" cap="none" normalizeH="0" baseline="0" dirty="0">
                <a:ln>
                  <a:noFill/>
                </a:ln>
                <a:solidFill>
                  <a:schemeClr val="tx1"/>
                </a:solidFill>
                <a:effectLst/>
                <a:latin typeface="Arial" panose="020B0604020202020204" pitchFamily="34" charset="0"/>
              </a:rPr>
              <a:t>trustworthy, patient-specific risk assessments</a:t>
            </a:r>
            <a:r>
              <a:rPr kumimoji="0" lang="en-US" altLang="en-US" sz="3200" b="0" i="0" u="none" strike="noStrike" cap="none" normalizeH="0" baseline="0" dirty="0">
                <a:ln>
                  <a:noFill/>
                </a:ln>
                <a:solidFill>
                  <a:schemeClr val="tx1"/>
                </a:solidFill>
                <a:effectLst/>
                <a:latin typeface="Arial" panose="020B0604020202020204" pitchFamily="34" charset="0"/>
              </a:rPr>
              <a:t> to support clinical decision-making. </a:t>
            </a:r>
          </a:p>
        </p:txBody>
      </p:sp>
      <p:sp>
        <p:nvSpPr>
          <p:cNvPr id="25" name="Shape 10">
            <a:extLst>
              <a:ext uri="{FF2B5EF4-FFF2-40B4-BE49-F238E27FC236}">
                <a16:creationId xmlns:a16="http://schemas.microsoft.com/office/drawing/2014/main" id="{55023F37-AAEC-F7E6-2C17-72ABEDF4EDAC}"/>
              </a:ext>
            </a:extLst>
          </p:cNvPr>
          <p:cNvSpPr/>
          <p:nvPr/>
        </p:nvSpPr>
        <p:spPr>
          <a:xfrm>
            <a:off x="319483" y="27529938"/>
            <a:ext cx="13129180" cy="962648"/>
          </a:xfrm>
          <a:prstGeom prst="rect">
            <a:avLst/>
          </a:prstGeom>
          <a:solidFill>
            <a:srgbClr val="003699"/>
          </a:solidFill>
          <a:ln/>
        </p:spPr>
        <p:txBody>
          <a:bodyPr/>
          <a:lstStyle/>
          <a:p>
            <a:endParaRPr lang="en-US"/>
          </a:p>
        </p:txBody>
      </p:sp>
      <p:sp>
        <p:nvSpPr>
          <p:cNvPr id="31" name="Text 11">
            <a:extLst>
              <a:ext uri="{FF2B5EF4-FFF2-40B4-BE49-F238E27FC236}">
                <a16:creationId xmlns:a16="http://schemas.microsoft.com/office/drawing/2014/main" id="{58ABD9E3-1F4C-49EC-BC73-15AB9A53E6E4}"/>
              </a:ext>
            </a:extLst>
          </p:cNvPr>
          <p:cNvSpPr/>
          <p:nvPr/>
        </p:nvSpPr>
        <p:spPr>
          <a:xfrm>
            <a:off x="1943874" y="27691438"/>
            <a:ext cx="10387584" cy="502920"/>
          </a:xfrm>
          <a:prstGeom prst="rect">
            <a:avLst/>
          </a:prstGeom>
          <a:noFill/>
          <a:ln/>
        </p:spPr>
        <p:txBody>
          <a:bodyPr wrap="square" lIns="0" tIns="0" rIns="0" bIns="0" rtlCol="0" anchor="ctr"/>
          <a:lstStyle/>
          <a:p>
            <a:pPr marL="0" indent="0" algn="ctr">
              <a:buNone/>
            </a:pPr>
            <a:r>
              <a:rPr lang="en-US" sz="4400" b="1" dirty="0">
                <a:solidFill>
                  <a:srgbClr val="FFD100"/>
                </a:solidFill>
                <a:latin typeface="Arial" pitchFamily="34" charset="0"/>
                <a:cs typeface="Arial" pitchFamily="34" charset="-120"/>
              </a:rPr>
              <a:t>Contributions</a:t>
            </a:r>
            <a:endParaRPr lang="en-US" sz="4400" dirty="0"/>
          </a:p>
        </p:txBody>
      </p:sp>
      <p:sp>
        <p:nvSpPr>
          <p:cNvPr id="32" name="TextBox 31">
            <a:extLst>
              <a:ext uri="{FF2B5EF4-FFF2-40B4-BE49-F238E27FC236}">
                <a16:creationId xmlns:a16="http://schemas.microsoft.com/office/drawing/2014/main" id="{44F733CF-76CC-01CF-56ED-D6747D01DC10}"/>
              </a:ext>
            </a:extLst>
          </p:cNvPr>
          <p:cNvSpPr txBox="1"/>
          <p:nvPr/>
        </p:nvSpPr>
        <p:spPr>
          <a:xfrm>
            <a:off x="233196" y="28407578"/>
            <a:ext cx="13504818" cy="3046988"/>
          </a:xfrm>
          <a:prstGeom prst="rect">
            <a:avLst/>
          </a:prstGeom>
          <a:noFill/>
        </p:spPr>
        <p:txBody>
          <a:bodyPr wrap="square">
            <a:spAutoFit/>
          </a:bodyPr>
          <a:lstStyle/>
          <a:p>
            <a:pPr marL="457200" lvl="0" indent="-457200" eaLnBrk="0" fontAlgn="base" hangingPunct="0">
              <a:spcBef>
                <a:spcPct val="0"/>
              </a:spcBef>
              <a:spcAft>
                <a:spcPct val="0"/>
              </a:spcAft>
              <a:buFont typeface="Arial" panose="020B0604020202020204" pitchFamily="34" charset="0"/>
              <a:buChar char="•"/>
            </a:pPr>
            <a:r>
              <a:rPr lang="en-US" altLang="en-US" sz="3200" b="1" dirty="0">
                <a:latin typeface="Arial" panose="020B0604020202020204" pitchFamily="34" charset="0"/>
              </a:rPr>
              <a:t>Individual-level prediction with uncertainty, not just population-level.</a:t>
            </a:r>
            <a:r>
              <a:rPr lang="en-US" altLang="en-US" sz="3200" dirty="0">
                <a:latin typeface="Arial" panose="020B0604020202020204" pitchFamily="34" charset="0"/>
              </a:rPr>
              <a:t> </a:t>
            </a:r>
          </a:p>
          <a:p>
            <a:pPr marL="457200" indent="-457200" eaLnBrk="0" fontAlgn="base" hangingPunct="0">
              <a:spcBef>
                <a:spcPct val="0"/>
              </a:spcBef>
              <a:spcAft>
                <a:spcPct val="0"/>
              </a:spcAft>
              <a:buFont typeface="Arial" panose="020B0604020202020204" pitchFamily="34" charset="0"/>
              <a:buChar char="•"/>
            </a:pPr>
            <a:r>
              <a:rPr lang="en-US" sz="3200" b="1" dirty="0">
                <a:latin typeface="Arial" panose="020B0604020202020204" pitchFamily="34" charset="0"/>
              </a:rPr>
              <a:t>Works even when trial participants don’t fully represent the real-world patients.</a:t>
            </a:r>
          </a:p>
          <a:p>
            <a:pPr marL="457200" lvl="0" indent="-457200" eaLnBrk="0" fontAlgn="base" hangingPunct="0">
              <a:spcBef>
                <a:spcPct val="0"/>
              </a:spcBef>
              <a:spcAft>
                <a:spcPct val="0"/>
              </a:spcAft>
              <a:buFont typeface="Arial" panose="020B0604020202020204" pitchFamily="34" charset="0"/>
              <a:buChar char="•"/>
            </a:pPr>
            <a:r>
              <a:rPr lang="en-US" altLang="en-US" sz="3200" b="1" dirty="0">
                <a:latin typeface="Arial" panose="020B0604020202020204" pitchFamily="34" charset="0"/>
              </a:rPr>
              <a:t>Borrows strength from multiple hospitals without sharing patient-level data.</a:t>
            </a:r>
            <a:r>
              <a:rPr lang="en-US" altLang="en-US" sz="3200" dirty="0">
                <a:latin typeface="Arial" panose="020B0604020202020204" pitchFamily="34" charset="0"/>
              </a:rPr>
              <a:t> </a:t>
            </a:r>
            <a:endParaRPr lang="en-US" altLang="en-US" sz="2800" dirty="0">
              <a:latin typeface="Arial" panose="020B0604020202020204" pitchFamily="34" charset="0"/>
            </a:endParaRPr>
          </a:p>
        </p:txBody>
      </p:sp>
      <p:sp>
        <p:nvSpPr>
          <p:cNvPr id="36" name="Shape 10">
            <a:extLst>
              <a:ext uri="{FF2B5EF4-FFF2-40B4-BE49-F238E27FC236}">
                <a16:creationId xmlns:a16="http://schemas.microsoft.com/office/drawing/2014/main" id="{E0C56782-9FD8-CBC7-BE4D-CBE2A063674A}"/>
              </a:ext>
            </a:extLst>
          </p:cNvPr>
          <p:cNvSpPr/>
          <p:nvPr/>
        </p:nvSpPr>
        <p:spPr>
          <a:xfrm>
            <a:off x="14335347" y="20648871"/>
            <a:ext cx="18583979" cy="801170"/>
          </a:xfrm>
          <a:prstGeom prst="rect">
            <a:avLst/>
          </a:prstGeom>
          <a:solidFill>
            <a:srgbClr val="003699"/>
          </a:solidFill>
          <a:ln/>
        </p:spPr>
        <p:txBody>
          <a:bodyPr/>
          <a:lstStyle/>
          <a:p>
            <a:endParaRPr lang="en-US"/>
          </a:p>
        </p:txBody>
      </p:sp>
      <p:sp>
        <p:nvSpPr>
          <p:cNvPr id="39" name="Text 11">
            <a:extLst>
              <a:ext uri="{FF2B5EF4-FFF2-40B4-BE49-F238E27FC236}">
                <a16:creationId xmlns:a16="http://schemas.microsoft.com/office/drawing/2014/main" id="{0A0633E8-F11F-852D-8F40-76BA2BB0BE69}"/>
              </a:ext>
            </a:extLst>
          </p:cNvPr>
          <p:cNvSpPr/>
          <p:nvPr/>
        </p:nvSpPr>
        <p:spPr>
          <a:xfrm>
            <a:off x="18500758" y="20797996"/>
            <a:ext cx="10387584" cy="502920"/>
          </a:xfrm>
          <a:prstGeom prst="rect">
            <a:avLst/>
          </a:prstGeom>
          <a:noFill/>
          <a:ln/>
        </p:spPr>
        <p:txBody>
          <a:bodyPr wrap="square" lIns="0" tIns="0" rIns="0" bIns="0" rtlCol="0" anchor="ctr"/>
          <a:lstStyle/>
          <a:p>
            <a:pPr marL="0" indent="0" algn="ctr">
              <a:buNone/>
            </a:pPr>
            <a:r>
              <a:rPr lang="en-US" sz="4400" b="1" dirty="0">
                <a:solidFill>
                  <a:srgbClr val="FFD100"/>
                </a:solidFill>
                <a:latin typeface="Arial" pitchFamily="34" charset="0"/>
                <a:ea typeface="Arial" pitchFamily="34" charset="-122"/>
                <a:cs typeface="Arial" pitchFamily="34" charset="-120"/>
              </a:rPr>
              <a:t>Key Conditions for Valid Prediction</a:t>
            </a:r>
            <a:endParaRPr lang="en-US" sz="4400" dirty="0"/>
          </a:p>
        </p:txBody>
      </p:sp>
      <p:graphicFrame>
        <p:nvGraphicFramePr>
          <p:cNvPr id="41" name="Table 40">
            <a:extLst>
              <a:ext uri="{FF2B5EF4-FFF2-40B4-BE49-F238E27FC236}">
                <a16:creationId xmlns:a16="http://schemas.microsoft.com/office/drawing/2014/main" id="{CA7FDD70-D3A8-B758-43B7-86C417FC7214}"/>
              </a:ext>
            </a:extLst>
          </p:cNvPr>
          <p:cNvGraphicFramePr>
            <a:graphicFrameLocks noGrp="1"/>
          </p:cNvGraphicFramePr>
          <p:nvPr>
            <p:extLst>
              <p:ext uri="{D42A27DB-BD31-4B8C-83A1-F6EECF244321}">
                <p14:modId xmlns:p14="http://schemas.microsoft.com/office/powerpoint/2010/main" val="1722542348"/>
              </p:ext>
            </p:extLst>
          </p:nvPr>
        </p:nvGraphicFramePr>
        <p:xfrm>
          <a:off x="14300835" y="21579029"/>
          <a:ext cx="18579465" cy="3528678"/>
        </p:xfrm>
        <a:graphic>
          <a:graphicData uri="http://schemas.openxmlformats.org/drawingml/2006/table">
            <a:tbl>
              <a:tblPr/>
              <a:tblGrid>
                <a:gridCol w="5058425">
                  <a:extLst>
                    <a:ext uri="{9D8B030D-6E8A-4147-A177-3AD203B41FA5}">
                      <a16:colId xmlns:a16="http://schemas.microsoft.com/office/drawing/2014/main" val="731988629"/>
                    </a:ext>
                  </a:extLst>
                </a:gridCol>
                <a:gridCol w="13521040">
                  <a:extLst>
                    <a:ext uri="{9D8B030D-6E8A-4147-A177-3AD203B41FA5}">
                      <a16:colId xmlns:a16="http://schemas.microsoft.com/office/drawing/2014/main" val="1460409463"/>
                    </a:ext>
                  </a:extLst>
                </a:gridCol>
              </a:tblGrid>
              <a:tr h="354219">
                <a:tc>
                  <a:txBody>
                    <a:bodyPr/>
                    <a:lstStyle/>
                    <a:p>
                      <a:pPr algn="ctr">
                        <a:buNone/>
                      </a:pPr>
                      <a:r>
                        <a:rPr lang="en-US" sz="3200" b="1" dirty="0"/>
                        <a:t>Fair treatment assignment</a:t>
                      </a:r>
                      <a:endParaRPr 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Every patient in the trial could have received either treatment, and no hidden factors drove both treatment choice and outcome.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990720"/>
                  </a:ext>
                </a:extLst>
              </a:tr>
              <a:tr h="907398">
                <a:tc>
                  <a:txBody>
                    <a:bodyPr/>
                    <a:lstStyle/>
                    <a:p>
                      <a:pPr algn="ctr">
                        <a:buNone/>
                      </a:pPr>
                      <a:r>
                        <a:rPr lang="en-US" sz="3200" b="1" dirty="0"/>
                        <a:t>Overlapping populations</a:t>
                      </a:r>
                      <a:endParaRPr lang="en-US" sz="32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Every type of patient in the real world also appears in the trial data.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50912975"/>
                  </a:ext>
                </a:extLst>
              </a:tr>
              <a:tr h="1338061">
                <a:tc>
                  <a:txBody>
                    <a:bodyPr/>
                    <a:lstStyle/>
                    <a:p>
                      <a:pPr algn="ctr">
                        <a:buNone/>
                      </a:pPr>
                      <a:r>
                        <a:rPr lang="en-US" sz="3200" b="1" dirty="0"/>
                        <a:t>Common Conditional Outcome Distribution</a:t>
                      </a:r>
                    </a:p>
                    <a:p>
                      <a:pPr algn="ctr">
                        <a:buNone/>
                      </a:pPr>
                      <a:r>
                        <a:rPr lang="en-US" sz="3200" b="1" dirty="0"/>
                        <a:t>(CCOD)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Patients with the same characteristics respond to treatment the same way, whether they're in the trial or the real 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90980254"/>
                  </a:ext>
                </a:extLst>
              </a:tr>
            </a:tbl>
          </a:graphicData>
        </a:graphic>
      </p:graphicFrame>
      <p:sp>
        <p:nvSpPr>
          <p:cNvPr id="42" name="Shape 43"/>
          <p:cNvSpPr/>
          <p:nvPr/>
        </p:nvSpPr>
        <p:spPr>
          <a:xfrm>
            <a:off x="33463793" y="5352805"/>
            <a:ext cx="10019341" cy="1039702"/>
          </a:xfrm>
          <a:prstGeom prst="rect">
            <a:avLst/>
          </a:prstGeom>
          <a:solidFill>
            <a:srgbClr val="003699"/>
          </a:solidFill>
          <a:ln/>
        </p:spPr>
        <p:txBody>
          <a:bodyPr/>
          <a:lstStyle/>
          <a:p>
            <a:endParaRPr lang="en-US"/>
          </a:p>
        </p:txBody>
      </p:sp>
      <p:sp>
        <p:nvSpPr>
          <p:cNvPr id="43" name="Text 44"/>
          <p:cNvSpPr/>
          <p:nvPr/>
        </p:nvSpPr>
        <p:spPr>
          <a:xfrm>
            <a:off x="31569197" y="5409491"/>
            <a:ext cx="14179722" cy="944243"/>
          </a:xfrm>
          <a:prstGeom prst="rect">
            <a:avLst/>
          </a:prstGeom>
          <a:noFill/>
          <a:ln/>
        </p:spPr>
        <p:txBody>
          <a:bodyPr wrap="square" lIns="0" tIns="0" rIns="0" bIns="0" rtlCol="0" anchor="ctr"/>
          <a:lstStyle/>
          <a:p>
            <a:pPr marL="0" indent="0" algn="ctr">
              <a:buNone/>
            </a:pPr>
            <a:r>
              <a:rPr lang="en-US" sz="4400" b="1" dirty="0">
                <a:solidFill>
                  <a:srgbClr val="FFD100"/>
                </a:solidFill>
                <a:latin typeface="Arial" pitchFamily="34" charset="0"/>
                <a:ea typeface="Arial" pitchFamily="34" charset="-122"/>
                <a:cs typeface="Arial" pitchFamily="34" charset="-120"/>
              </a:rPr>
              <a:t>Results: Simulation</a:t>
            </a:r>
            <a:endParaRPr lang="en-US" sz="4400" dirty="0"/>
          </a:p>
        </p:txBody>
      </p:sp>
      <p:pic>
        <p:nvPicPr>
          <p:cNvPr id="44" name="Picture 43" descr="A comparison of a graph&#10;&#10;AI-generated content may be incorrect.">
            <a:extLst>
              <a:ext uri="{FF2B5EF4-FFF2-40B4-BE49-F238E27FC236}">
                <a16:creationId xmlns:a16="http://schemas.microsoft.com/office/drawing/2014/main" id="{2D976086-8DB5-F6FA-2E69-B41D36364314}"/>
              </a:ext>
            </a:extLst>
          </p:cNvPr>
          <p:cNvPicPr>
            <a:picLocks noChangeAspect="1"/>
          </p:cNvPicPr>
          <p:nvPr/>
        </p:nvPicPr>
        <p:blipFill>
          <a:blip r:embed="rId8"/>
          <a:srcRect l="1" r="-356"/>
          <a:stretch>
            <a:fillRect/>
          </a:stretch>
        </p:blipFill>
        <p:spPr>
          <a:xfrm>
            <a:off x="33231968" y="7283725"/>
            <a:ext cx="10533198" cy="3661854"/>
          </a:xfrm>
          <a:prstGeom prst="rect">
            <a:avLst/>
          </a:prstGeom>
        </p:spPr>
      </p:pic>
      <p:pic>
        <p:nvPicPr>
          <p:cNvPr id="45" name="Picture 44" descr="A comparison of a chart&#10;&#10;AI-generated content may be incorrect.">
            <a:extLst>
              <a:ext uri="{FF2B5EF4-FFF2-40B4-BE49-F238E27FC236}">
                <a16:creationId xmlns:a16="http://schemas.microsoft.com/office/drawing/2014/main" id="{ACFCD1D6-2885-D60A-8369-959BDC3EC6B7}"/>
              </a:ext>
            </a:extLst>
          </p:cNvPr>
          <p:cNvPicPr>
            <a:picLocks noChangeAspect="1"/>
          </p:cNvPicPr>
          <p:nvPr/>
        </p:nvPicPr>
        <p:blipFill>
          <a:blip r:embed="rId9"/>
          <a:srcRect l="1" r="-761"/>
          <a:stretch>
            <a:fillRect/>
          </a:stretch>
        </p:blipFill>
        <p:spPr>
          <a:xfrm>
            <a:off x="33321649" y="12877433"/>
            <a:ext cx="10303624" cy="3667194"/>
          </a:xfrm>
          <a:prstGeom prst="rect">
            <a:avLst/>
          </a:prstGeom>
        </p:spPr>
      </p:pic>
      <p:sp>
        <p:nvSpPr>
          <p:cNvPr id="46" name="Shape 48">
            <a:extLst>
              <a:ext uri="{FF2B5EF4-FFF2-40B4-BE49-F238E27FC236}">
                <a16:creationId xmlns:a16="http://schemas.microsoft.com/office/drawing/2014/main" id="{FDB62D6F-9956-26FC-8C00-2D965BB9BA7F}"/>
              </a:ext>
            </a:extLst>
          </p:cNvPr>
          <p:cNvSpPr/>
          <p:nvPr/>
        </p:nvSpPr>
        <p:spPr>
          <a:xfrm>
            <a:off x="33692532" y="17929853"/>
            <a:ext cx="9753259" cy="1039701"/>
          </a:xfrm>
          <a:prstGeom prst="rect">
            <a:avLst/>
          </a:prstGeom>
          <a:solidFill>
            <a:srgbClr val="003699"/>
          </a:solidFill>
          <a:ln/>
        </p:spPr>
        <p:txBody>
          <a:bodyPr/>
          <a:lstStyle/>
          <a:p>
            <a:endParaRPr lang="en-US"/>
          </a:p>
        </p:txBody>
      </p:sp>
      <p:sp>
        <p:nvSpPr>
          <p:cNvPr id="47" name="Text 49">
            <a:extLst>
              <a:ext uri="{FF2B5EF4-FFF2-40B4-BE49-F238E27FC236}">
                <a16:creationId xmlns:a16="http://schemas.microsoft.com/office/drawing/2014/main" id="{277C3D3F-866D-09F8-305C-541ED400916A}"/>
              </a:ext>
            </a:extLst>
          </p:cNvPr>
          <p:cNvSpPr/>
          <p:nvPr/>
        </p:nvSpPr>
        <p:spPr>
          <a:xfrm>
            <a:off x="33542122" y="18169634"/>
            <a:ext cx="10387584" cy="502920"/>
          </a:xfrm>
          <a:prstGeom prst="rect">
            <a:avLst/>
          </a:prstGeom>
          <a:noFill/>
          <a:ln/>
        </p:spPr>
        <p:txBody>
          <a:bodyPr wrap="square" lIns="0" tIns="0" rIns="0" bIns="0" rtlCol="0" anchor="ctr"/>
          <a:lstStyle/>
          <a:p>
            <a:pPr marL="0" indent="0" algn="ctr">
              <a:buNone/>
            </a:pPr>
            <a:r>
              <a:rPr lang="en-US" sz="4400" b="1" dirty="0">
                <a:solidFill>
                  <a:srgbClr val="FFD100"/>
                </a:solidFill>
                <a:latin typeface="Arial" pitchFamily="34" charset="0"/>
                <a:ea typeface="Arial" pitchFamily="34" charset="-122"/>
                <a:cs typeface="Arial" pitchFamily="34" charset="-120"/>
              </a:rPr>
              <a:t>Results: Real-World Data </a:t>
            </a:r>
            <a:endParaRPr lang="en-US" sz="4400" dirty="0"/>
          </a:p>
        </p:txBody>
      </p:sp>
      <p:pic>
        <p:nvPicPr>
          <p:cNvPr id="49" name="Picture 48" descr="A graph of a graph&#10;&#10;AI-generated content may be incorrect.">
            <a:extLst>
              <a:ext uri="{FF2B5EF4-FFF2-40B4-BE49-F238E27FC236}">
                <a16:creationId xmlns:a16="http://schemas.microsoft.com/office/drawing/2014/main" id="{9D4A7E06-3009-FA5C-F339-0813D08F006F}"/>
              </a:ext>
            </a:extLst>
          </p:cNvPr>
          <p:cNvPicPr>
            <a:picLocks noChangeAspect="1"/>
          </p:cNvPicPr>
          <p:nvPr/>
        </p:nvPicPr>
        <p:blipFill>
          <a:blip r:embed="rId10"/>
          <a:stretch>
            <a:fillRect/>
          </a:stretch>
        </p:blipFill>
        <p:spPr>
          <a:xfrm>
            <a:off x="33265729" y="19926473"/>
            <a:ext cx="10474574" cy="3728125"/>
          </a:xfrm>
          <a:prstGeom prst="rect">
            <a:avLst/>
          </a:prstGeom>
        </p:spPr>
      </p:pic>
      <p:sp>
        <p:nvSpPr>
          <p:cNvPr id="50" name="TextBox 49">
            <a:extLst>
              <a:ext uri="{FF2B5EF4-FFF2-40B4-BE49-F238E27FC236}">
                <a16:creationId xmlns:a16="http://schemas.microsoft.com/office/drawing/2014/main" id="{F2A78C32-EAAA-B7E0-FA43-B3DB867ECD38}"/>
              </a:ext>
            </a:extLst>
          </p:cNvPr>
          <p:cNvSpPr txBox="1"/>
          <p:nvPr/>
        </p:nvSpPr>
        <p:spPr>
          <a:xfrm>
            <a:off x="1835134" y="6570105"/>
            <a:ext cx="2250850" cy="584775"/>
          </a:xfrm>
          <a:prstGeom prst="rect">
            <a:avLst/>
          </a:prstGeom>
          <a:noFill/>
        </p:spPr>
        <p:txBody>
          <a:bodyPr wrap="square" rtlCol="0">
            <a:spAutoFit/>
          </a:bodyPr>
          <a:lstStyle/>
          <a:p>
            <a:r>
              <a:rPr lang="en-US" sz="3200" b="1" dirty="0">
                <a:solidFill>
                  <a:srgbClr val="FF0000"/>
                </a:solidFill>
              </a:rPr>
              <a:t>Our goal</a:t>
            </a:r>
          </a:p>
        </p:txBody>
      </p:sp>
      <p:sp>
        <p:nvSpPr>
          <p:cNvPr id="55" name="TextBox 54">
            <a:extLst>
              <a:ext uri="{FF2B5EF4-FFF2-40B4-BE49-F238E27FC236}">
                <a16:creationId xmlns:a16="http://schemas.microsoft.com/office/drawing/2014/main" id="{C3D79EFC-391A-38AC-9FDF-3DF91A5A718B}"/>
              </a:ext>
            </a:extLst>
          </p:cNvPr>
          <p:cNvSpPr txBox="1"/>
          <p:nvPr/>
        </p:nvSpPr>
        <p:spPr>
          <a:xfrm>
            <a:off x="15488252" y="7025857"/>
            <a:ext cx="3054888" cy="1077218"/>
          </a:xfrm>
          <a:prstGeom prst="rect">
            <a:avLst/>
          </a:prstGeom>
          <a:noFill/>
        </p:spPr>
        <p:txBody>
          <a:bodyPr wrap="square" rtlCol="0">
            <a:spAutoFit/>
          </a:bodyPr>
          <a:lstStyle/>
          <a:p>
            <a:r>
              <a:rPr lang="en-US" sz="3200" b="1" dirty="0">
                <a:solidFill>
                  <a:srgbClr val="FF0000"/>
                </a:solidFill>
              </a:rPr>
              <a:t>New Treatment Rule to Evaluate</a:t>
            </a:r>
          </a:p>
        </p:txBody>
      </p:sp>
      <p:cxnSp>
        <p:nvCxnSpPr>
          <p:cNvPr id="62" name="Straight Arrow Connector 61">
            <a:extLst>
              <a:ext uri="{FF2B5EF4-FFF2-40B4-BE49-F238E27FC236}">
                <a16:creationId xmlns:a16="http://schemas.microsoft.com/office/drawing/2014/main" id="{B68D4F84-8473-1866-B5E4-F30E63593A10}"/>
              </a:ext>
            </a:extLst>
          </p:cNvPr>
          <p:cNvCxnSpPr/>
          <p:nvPr/>
        </p:nvCxnSpPr>
        <p:spPr>
          <a:xfrm>
            <a:off x="17098967" y="8103075"/>
            <a:ext cx="1161512" cy="306506"/>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FC9947CD-EA7B-81AD-0D49-65AA501CB67E}"/>
              </a:ext>
            </a:extLst>
          </p:cNvPr>
          <p:cNvSpPr txBox="1"/>
          <p:nvPr/>
        </p:nvSpPr>
        <p:spPr>
          <a:xfrm>
            <a:off x="16512451" y="8786929"/>
            <a:ext cx="2702280" cy="584775"/>
          </a:xfrm>
          <a:prstGeom prst="rect">
            <a:avLst/>
          </a:prstGeom>
          <a:noFill/>
        </p:spPr>
        <p:txBody>
          <a:bodyPr wrap="square" rtlCol="0">
            <a:spAutoFit/>
          </a:bodyPr>
          <a:lstStyle/>
          <a:p>
            <a:r>
              <a:rPr lang="en-US" sz="3200" dirty="0"/>
              <a:t>ITR Evaluation</a:t>
            </a:r>
          </a:p>
        </p:txBody>
      </p:sp>
      <p:sp>
        <p:nvSpPr>
          <p:cNvPr id="64" name="TextBox 63">
            <a:extLst>
              <a:ext uri="{FF2B5EF4-FFF2-40B4-BE49-F238E27FC236}">
                <a16:creationId xmlns:a16="http://schemas.microsoft.com/office/drawing/2014/main" id="{95213461-966E-701D-A805-622589F5F418}"/>
              </a:ext>
            </a:extLst>
          </p:cNvPr>
          <p:cNvSpPr txBox="1"/>
          <p:nvPr/>
        </p:nvSpPr>
        <p:spPr>
          <a:xfrm>
            <a:off x="21963126" y="8786929"/>
            <a:ext cx="991100" cy="584775"/>
          </a:xfrm>
          <a:prstGeom prst="rect">
            <a:avLst/>
          </a:prstGeom>
          <a:noFill/>
        </p:spPr>
        <p:txBody>
          <a:bodyPr wrap="square" rtlCol="0">
            <a:spAutoFit/>
          </a:bodyPr>
          <a:lstStyle/>
          <a:p>
            <a:r>
              <a:rPr lang="en-US" sz="3200" dirty="0"/>
              <a:t>Data</a:t>
            </a:r>
          </a:p>
        </p:txBody>
      </p:sp>
      <p:sp>
        <p:nvSpPr>
          <p:cNvPr id="65" name="TextBox 64">
            <a:extLst>
              <a:ext uri="{FF2B5EF4-FFF2-40B4-BE49-F238E27FC236}">
                <a16:creationId xmlns:a16="http://schemas.microsoft.com/office/drawing/2014/main" id="{626B2D62-CD29-A17E-E525-3EA2BFA49999}"/>
              </a:ext>
            </a:extLst>
          </p:cNvPr>
          <p:cNvSpPr txBox="1"/>
          <p:nvPr/>
        </p:nvSpPr>
        <p:spPr>
          <a:xfrm>
            <a:off x="24726980" y="8748678"/>
            <a:ext cx="3563831" cy="584775"/>
          </a:xfrm>
          <a:prstGeom prst="rect">
            <a:avLst/>
          </a:prstGeom>
          <a:noFill/>
        </p:spPr>
        <p:txBody>
          <a:bodyPr wrap="square" rtlCol="0">
            <a:spAutoFit/>
          </a:bodyPr>
          <a:lstStyle/>
          <a:p>
            <a:r>
              <a:rPr lang="en-US" sz="3200" dirty="0"/>
              <a:t>Potential Outcomes</a:t>
            </a:r>
          </a:p>
        </p:txBody>
      </p:sp>
      <p:sp>
        <p:nvSpPr>
          <p:cNvPr id="68" name="TextBox 67">
            <a:extLst>
              <a:ext uri="{FF2B5EF4-FFF2-40B4-BE49-F238E27FC236}">
                <a16:creationId xmlns:a16="http://schemas.microsoft.com/office/drawing/2014/main" id="{8CBF7A09-6482-161C-8EE4-FB8431480646}"/>
              </a:ext>
            </a:extLst>
          </p:cNvPr>
          <p:cNvSpPr txBox="1"/>
          <p:nvPr/>
        </p:nvSpPr>
        <p:spPr>
          <a:xfrm>
            <a:off x="18260479" y="9660983"/>
            <a:ext cx="1219200" cy="523220"/>
          </a:xfrm>
          <a:prstGeom prst="rect">
            <a:avLst/>
          </a:prstGeom>
          <a:noFill/>
        </p:spPr>
        <p:txBody>
          <a:bodyPr wrap="square" rtlCol="0">
            <a:spAutoFit/>
          </a:bodyPr>
          <a:lstStyle/>
          <a:p>
            <a:r>
              <a:rPr lang="en-US" sz="2800" dirty="0"/>
              <a:t>Target</a:t>
            </a:r>
          </a:p>
        </p:txBody>
      </p:sp>
      <p:sp>
        <p:nvSpPr>
          <p:cNvPr id="69" name="TextBox 68">
            <a:extLst>
              <a:ext uri="{FF2B5EF4-FFF2-40B4-BE49-F238E27FC236}">
                <a16:creationId xmlns:a16="http://schemas.microsoft.com/office/drawing/2014/main" id="{2EB2B290-861A-EDD3-1C71-097389161C6B}"/>
              </a:ext>
            </a:extLst>
          </p:cNvPr>
          <p:cNvSpPr txBox="1"/>
          <p:nvPr/>
        </p:nvSpPr>
        <p:spPr>
          <a:xfrm>
            <a:off x="18147318" y="11750126"/>
            <a:ext cx="2057582" cy="954107"/>
          </a:xfrm>
          <a:prstGeom prst="rect">
            <a:avLst/>
          </a:prstGeom>
          <a:noFill/>
        </p:spPr>
        <p:txBody>
          <a:bodyPr wrap="square" rtlCol="0">
            <a:spAutoFit/>
          </a:bodyPr>
          <a:lstStyle/>
          <a:p>
            <a:r>
              <a:rPr lang="en-US" sz="2800" dirty="0"/>
              <a:t>Internal Source (RCT)</a:t>
            </a:r>
          </a:p>
        </p:txBody>
      </p:sp>
      <p:sp>
        <p:nvSpPr>
          <p:cNvPr id="70" name="TextBox 69">
            <a:extLst>
              <a:ext uri="{FF2B5EF4-FFF2-40B4-BE49-F238E27FC236}">
                <a16:creationId xmlns:a16="http://schemas.microsoft.com/office/drawing/2014/main" id="{075EB190-3D09-DF83-CC55-03386D66CCE5}"/>
              </a:ext>
            </a:extLst>
          </p:cNvPr>
          <p:cNvSpPr txBox="1"/>
          <p:nvPr/>
        </p:nvSpPr>
        <p:spPr>
          <a:xfrm>
            <a:off x="18262627" y="13817302"/>
            <a:ext cx="1535561" cy="954107"/>
          </a:xfrm>
          <a:prstGeom prst="rect">
            <a:avLst/>
          </a:prstGeom>
          <a:noFill/>
        </p:spPr>
        <p:txBody>
          <a:bodyPr wrap="square" rtlCol="0">
            <a:spAutoFit/>
          </a:bodyPr>
          <a:lstStyle/>
          <a:p>
            <a:r>
              <a:rPr lang="en-US" sz="2800" dirty="0"/>
              <a:t>External Source</a:t>
            </a:r>
          </a:p>
        </p:txBody>
      </p:sp>
      <p:sp>
        <p:nvSpPr>
          <p:cNvPr id="73" name="Arrow: Right 72">
            <a:extLst>
              <a:ext uri="{FF2B5EF4-FFF2-40B4-BE49-F238E27FC236}">
                <a16:creationId xmlns:a16="http://schemas.microsoft.com/office/drawing/2014/main" id="{D01230A5-925F-A72D-7BE6-D249009F7EB7}"/>
              </a:ext>
            </a:extLst>
          </p:cNvPr>
          <p:cNvSpPr/>
          <p:nvPr/>
        </p:nvSpPr>
        <p:spPr>
          <a:xfrm>
            <a:off x="28041128" y="9943741"/>
            <a:ext cx="1668399" cy="15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TextBox 74">
            <a:extLst>
              <a:ext uri="{FF2B5EF4-FFF2-40B4-BE49-F238E27FC236}">
                <a16:creationId xmlns:a16="http://schemas.microsoft.com/office/drawing/2014/main" id="{AC820AD6-06E8-E111-B543-51925AC1AFDB}"/>
              </a:ext>
            </a:extLst>
          </p:cNvPr>
          <p:cNvSpPr txBox="1"/>
          <p:nvPr/>
        </p:nvSpPr>
        <p:spPr>
          <a:xfrm>
            <a:off x="14244147" y="8803261"/>
            <a:ext cx="2168943" cy="584775"/>
          </a:xfrm>
          <a:prstGeom prst="rect">
            <a:avLst/>
          </a:prstGeom>
          <a:noFill/>
        </p:spPr>
        <p:txBody>
          <a:bodyPr wrap="square" rtlCol="0">
            <a:spAutoFit/>
          </a:bodyPr>
          <a:lstStyle/>
          <a:p>
            <a:r>
              <a:rPr lang="en-US" sz="3200" dirty="0"/>
              <a:t>Methods</a:t>
            </a:r>
          </a:p>
        </p:txBody>
      </p:sp>
      <p:sp>
        <p:nvSpPr>
          <p:cNvPr id="76" name="TextBox 75">
            <a:extLst>
              <a:ext uri="{FF2B5EF4-FFF2-40B4-BE49-F238E27FC236}">
                <a16:creationId xmlns:a16="http://schemas.microsoft.com/office/drawing/2014/main" id="{D5676F9F-191E-4192-55AC-9052FB97FCBB}"/>
              </a:ext>
            </a:extLst>
          </p:cNvPr>
          <p:cNvSpPr txBox="1"/>
          <p:nvPr/>
        </p:nvSpPr>
        <p:spPr>
          <a:xfrm>
            <a:off x="14237565" y="11674902"/>
            <a:ext cx="2274886" cy="954107"/>
          </a:xfrm>
          <a:prstGeom prst="rect">
            <a:avLst/>
          </a:prstGeom>
          <a:noFill/>
        </p:spPr>
        <p:txBody>
          <a:bodyPr wrap="square" rtlCol="0">
            <a:spAutoFit/>
          </a:bodyPr>
          <a:lstStyle/>
          <a:p>
            <a:r>
              <a:rPr lang="en-US" sz="2800" dirty="0"/>
              <a:t>tCOPP-W</a:t>
            </a:r>
          </a:p>
          <a:p>
            <a:r>
              <a:rPr lang="en-US" sz="2800" dirty="0"/>
              <a:t>tCOPP-EIF(I)</a:t>
            </a:r>
          </a:p>
        </p:txBody>
      </p:sp>
      <p:sp>
        <p:nvSpPr>
          <p:cNvPr id="77" name="TextBox 76">
            <a:extLst>
              <a:ext uri="{FF2B5EF4-FFF2-40B4-BE49-F238E27FC236}">
                <a16:creationId xmlns:a16="http://schemas.microsoft.com/office/drawing/2014/main" id="{BD1B879F-6183-6294-A407-B7A7137C715F}"/>
              </a:ext>
            </a:extLst>
          </p:cNvPr>
          <p:cNvSpPr txBox="1"/>
          <p:nvPr/>
        </p:nvSpPr>
        <p:spPr>
          <a:xfrm>
            <a:off x="14230052" y="13922044"/>
            <a:ext cx="2516397" cy="523220"/>
          </a:xfrm>
          <a:prstGeom prst="rect">
            <a:avLst/>
          </a:prstGeom>
          <a:noFill/>
        </p:spPr>
        <p:txBody>
          <a:bodyPr wrap="square" rtlCol="0">
            <a:spAutoFit/>
          </a:bodyPr>
          <a:lstStyle/>
          <a:p>
            <a:r>
              <a:rPr lang="en-US" sz="2800" dirty="0"/>
              <a:t>tCOPP-EIF(M)</a:t>
            </a:r>
          </a:p>
        </p:txBody>
      </p:sp>
      <p:sp>
        <p:nvSpPr>
          <p:cNvPr id="79" name="TextBox 78">
            <a:extLst>
              <a:ext uri="{FF2B5EF4-FFF2-40B4-BE49-F238E27FC236}">
                <a16:creationId xmlns:a16="http://schemas.microsoft.com/office/drawing/2014/main" id="{76E3C4CE-C48A-E2EC-1C42-4838EF1377A6}"/>
              </a:ext>
            </a:extLst>
          </p:cNvPr>
          <p:cNvSpPr txBox="1"/>
          <p:nvPr/>
        </p:nvSpPr>
        <p:spPr>
          <a:xfrm>
            <a:off x="18066259" y="14847251"/>
            <a:ext cx="2680213" cy="830997"/>
          </a:xfrm>
          <a:prstGeom prst="rect">
            <a:avLst/>
          </a:prstGeom>
          <a:noFill/>
        </p:spPr>
        <p:txBody>
          <a:bodyPr wrap="square" rtlCol="0">
            <a:spAutoFit/>
          </a:bodyPr>
          <a:lstStyle/>
          <a:p>
            <a:pPr algn="ctr"/>
            <a:r>
              <a:rPr lang="en-US" sz="2400" b="1" dirty="0">
                <a:solidFill>
                  <a:srgbClr val="FF0000"/>
                </a:solidFill>
              </a:rPr>
              <a:t>Tech 3: </a:t>
            </a:r>
          </a:p>
          <a:p>
            <a:pPr algn="ctr"/>
            <a:r>
              <a:rPr lang="en-US" sz="2400" b="1" dirty="0">
                <a:solidFill>
                  <a:srgbClr val="FF0000"/>
                </a:solidFill>
              </a:rPr>
              <a:t>Summary Statistics</a:t>
            </a:r>
          </a:p>
        </p:txBody>
      </p:sp>
      <p:cxnSp>
        <p:nvCxnSpPr>
          <p:cNvPr id="80" name="Straight Arrow Connector 79">
            <a:extLst>
              <a:ext uri="{FF2B5EF4-FFF2-40B4-BE49-F238E27FC236}">
                <a16:creationId xmlns:a16="http://schemas.microsoft.com/office/drawing/2014/main" id="{FBD748F9-FA86-1B23-0AC6-DD87B314B5AC}"/>
              </a:ext>
            </a:extLst>
          </p:cNvPr>
          <p:cNvCxnSpPr>
            <a:cxnSpLocks/>
          </p:cNvCxnSpPr>
          <p:nvPr/>
        </p:nvCxnSpPr>
        <p:spPr>
          <a:xfrm flipV="1">
            <a:off x="19995096" y="14183654"/>
            <a:ext cx="597954" cy="717114"/>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83" name="Arrow: Right 82">
            <a:extLst>
              <a:ext uri="{FF2B5EF4-FFF2-40B4-BE49-F238E27FC236}">
                <a16:creationId xmlns:a16="http://schemas.microsoft.com/office/drawing/2014/main" id="{6FAE23FA-2311-A68B-15D9-DEBCC50B4A37}"/>
              </a:ext>
            </a:extLst>
          </p:cNvPr>
          <p:cNvSpPr/>
          <p:nvPr/>
        </p:nvSpPr>
        <p:spPr>
          <a:xfrm>
            <a:off x="24473744" y="12156370"/>
            <a:ext cx="369627" cy="143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Arrow: Right 83">
            <a:extLst>
              <a:ext uri="{FF2B5EF4-FFF2-40B4-BE49-F238E27FC236}">
                <a16:creationId xmlns:a16="http://schemas.microsoft.com/office/drawing/2014/main" id="{5961A954-B0CB-7820-1143-718C82A55094}"/>
              </a:ext>
            </a:extLst>
          </p:cNvPr>
          <p:cNvSpPr/>
          <p:nvPr/>
        </p:nvSpPr>
        <p:spPr>
          <a:xfrm>
            <a:off x="24505720" y="13669781"/>
            <a:ext cx="369627" cy="143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Arrow: Right 84">
            <a:extLst>
              <a:ext uri="{FF2B5EF4-FFF2-40B4-BE49-F238E27FC236}">
                <a16:creationId xmlns:a16="http://schemas.microsoft.com/office/drawing/2014/main" id="{45D2CCDE-8878-A5F0-94A7-53F94AAE628C}"/>
              </a:ext>
            </a:extLst>
          </p:cNvPr>
          <p:cNvSpPr/>
          <p:nvPr/>
        </p:nvSpPr>
        <p:spPr>
          <a:xfrm>
            <a:off x="24519083" y="15091926"/>
            <a:ext cx="369627" cy="1431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A60DF4BD-7504-D576-9392-4172D2D9486D}"/>
              </a:ext>
            </a:extLst>
          </p:cNvPr>
          <p:cNvSpPr txBox="1"/>
          <p:nvPr/>
        </p:nvSpPr>
        <p:spPr>
          <a:xfrm>
            <a:off x="21963126" y="12600499"/>
            <a:ext cx="2814226" cy="830997"/>
          </a:xfrm>
          <a:prstGeom prst="rect">
            <a:avLst/>
          </a:prstGeom>
          <a:noFill/>
        </p:spPr>
        <p:txBody>
          <a:bodyPr wrap="square" rtlCol="0">
            <a:spAutoFit/>
          </a:bodyPr>
          <a:lstStyle/>
          <a:p>
            <a:pPr algn="ctr"/>
            <a:r>
              <a:rPr lang="en-US" sz="2400" b="1" dirty="0">
                <a:solidFill>
                  <a:srgbClr val="FF0000"/>
                </a:solidFill>
              </a:rPr>
              <a:t>Tech 1: Subsampling Correction</a:t>
            </a:r>
          </a:p>
        </p:txBody>
      </p:sp>
      <p:sp>
        <p:nvSpPr>
          <p:cNvPr id="90" name="Rectangle 89">
            <a:extLst>
              <a:ext uri="{FF2B5EF4-FFF2-40B4-BE49-F238E27FC236}">
                <a16:creationId xmlns:a16="http://schemas.microsoft.com/office/drawing/2014/main" id="{3AAA3A6C-3A35-5D57-1F38-6E333AF90E1B}"/>
              </a:ext>
            </a:extLst>
          </p:cNvPr>
          <p:cNvSpPr/>
          <p:nvPr/>
        </p:nvSpPr>
        <p:spPr>
          <a:xfrm>
            <a:off x="24989206" y="11578538"/>
            <a:ext cx="4286857" cy="4263600"/>
          </a:xfrm>
          <a:prstGeom prst="rect">
            <a:avLst/>
          </a:prstGeom>
          <a:noFill/>
          <a:ln w="762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3" name="Straight Arrow Connector 92">
            <a:extLst>
              <a:ext uri="{FF2B5EF4-FFF2-40B4-BE49-F238E27FC236}">
                <a16:creationId xmlns:a16="http://schemas.microsoft.com/office/drawing/2014/main" id="{FBA7A540-58EF-02D5-8941-DA51E310F017}"/>
              </a:ext>
            </a:extLst>
          </p:cNvPr>
          <p:cNvCxnSpPr>
            <a:cxnSpLocks/>
          </p:cNvCxnSpPr>
          <p:nvPr/>
        </p:nvCxnSpPr>
        <p:spPr>
          <a:xfrm flipV="1">
            <a:off x="24519083" y="12537752"/>
            <a:ext cx="386735" cy="14608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6" name="Arrow: Right 95">
            <a:extLst>
              <a:ext uri="{FF2B5EF4-FFF2-40B4-BE49-F238E27FC236}">
                <a16:creationId xmlns:a16="http://schemas.microsoft.com/office/drawing/2014/main" id="{9FE288A9-B48B-A9C6-69A3-9C57720CDAAE}"/>
              </a:ext>
            </a:extLst>
          </p:cNvPr>
          <p:cNvSpPr/>
          <p:nvPr/>
        </p:nvSpPr>
        <p:spPr>
          <a:xfrm>
            <a:off x="26252408" y="12156370"/>
            <a:ext cx="670413" cy="708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Arrow: Right 96">
            <a:extLst>
              <a:ext uri="{FF2B5EF4-FFF2-40B4-BE49-F238E27FC236}">
                <a16:creationId xmlns:a16="http://schemas.microsoft.com/office/drawing/2014/main" id="{0CAC82C1-AD2B-0D1B-6FC0-FBD832769AC6}"/>
              </a:ext>
            </a:extLst>
          </p:cNvPr>
          <p:cNvSpPr/>
          <p:nvPr/>
        </p:nvSpPr>
        <p:spPr>
          <a:xfrm>
            <a:off x="26252408" y="13669781"/>
            <a:ext cx="670413" cy="708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Arrow: Right 97">
            <a:extLst>
              <a:ext uri="{FF2B5EF4-FFF2-40B4-BE49-F238E27FC236}">
                <a16:creationId xmlns:a16="http://schemas.microsoft.com/office/drawing/2014/main" id="{894DCE00-B93C-BAAF-FFDA-3B260D314982}"/>
              </a:ext>
            </a:extLst>
          </p:cNvPr>
          <p:cNvSpPr/>
          <p:nvPr/>
        </p:nvSpPr>
        <p:spPr>
          <a:xfrm>
            <a:off x="26249231" y="15106517"/>
            <a:ext cx="670413" cy="7081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Arrow: Right 98">
            <a:extLst>
              <a:ext uri="{FF2B5EF4-FFF2-40B4-BE49-F238E27FC236}">
                <a16:creationId xmlns:a16="http://schemas.microsoft.com/office/drawing/2014/main" id="{983BBBF6-19E2-6CC5-9A1E-3AEF0CEC55FC}"/>
              </a:ext>
            </a:extLst>
          </p:cNvPr>
          <p:cNvSpPr/>
          <p:nvPr/>
        </p:nvSpPr>
        <p:spPr>
          <a:xfrm rot="16200000">
            <a:off x="26760998" y="10868477"/>
            <a:ext cx="1063728" cy="15420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TextBox 99">
            <a:extLst>
              <a:ext uri="{FF2B5EF4-FFF2-40B4-BE49-F238E27FC236}">
                <a16:creationId xmlns:a16="http://schemas.microsoft.com/office/drawing/2014/main" id="{955B4FF4-6DA7-D1C4-3608-65C0266BE2B1}"/>
              </a:ext>
            </a:extLst>
          </p:cNvPr>
          <p:cNvSpPr txBox="1"/>
          <p:nvPr/>
        </p:nvSpPr>
        <p:spPr>
          <a:xfrm>
            <a:off x="24856009" y="10467743"/>
            <a:ext cx="2375229" cy="830997"/>
          </a:xfrm>
          <a:prstGeom prst="rect">
            <a:avLst/>
          </a:prstGeom>
          <a:noFill/>
        </p:spPr>
        <p:txBody>
          <a:bodyPr wrap="square" rtlCol="0">
            <a:spAutoFit/>
          </a:bodyPr>
          <a:lstStyle/>
          <a:p>
            <a:pPr algn="ctr"/>
            <a:r>
              <a:rPr lang="en-US" sz="2400" b="1" dirty="0">
                <a:solidFill>
                  <a:srgbClr val="FF0000"/>
                </a:solidFill>
              </a:rPr>
              <a:t>Tech 2: Covariate Shift Correction</a:t>
            </a:r>
          </a:p>
        </p:txBody>
      </p:sp>
      <p:sp>
        <p:nvSpPr>
          <p:cNvPr id="101" name="Arrow: Right 100">
            <a:extLst>
              <a:ext uri="{FF2B5EF4-FFF2-40B4-BE49-F238E27FC236}">
                <a16:creationId xmlns:a16="http://schemas.microsoft.com/office/drawing/2014/main" id="{34B55B41-BD43-CB54-A4CD-ADB95F9F4392}"/>
              </a:ext>
            </a:extLst>
          </p:cNvPr>
          <p:cNvSpPr/>
          <p:nvPr/>
        </p:nvSpPr>
        <p:spPr>
          <a:xfrm>
            <a:off x="20133399" y="8079020"/>
            <a:ext cx="9142664" cy="39348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TextBox 103">
            <a:extLst>
              <a:ext uri="{FF2B5EF4-FFF2-40B4-BE49-F238E27FC236}">
                <a16:creationId xmlns:a16="http://schemas.microsoft.com/office/drawing/2014/main" id="{FBD1C8FD-E1E0-9A28-EAA3-600A959FF38B}"/>
              </a:ext>
            </a:extLst>
          </p:cNvPr>
          <p:cNvSpPr txBox="1"/>
          <p:nvPr/>
        </p:nvSpPr>
        <p:spPr>
          <a:xfrm>
            <a:off x="27687712" y="8834382"/>
            <a:ext cx="2375229" cy="1200329"/>
          </a:xfrm>
          <a:prstGeom prst="rect">
            <a:avLst/>
          </a:prstGeom>
          <a:noFill/>
        </p:spPr>
        <p:txBody>
          <a:bodyPr wrap="square" rtlCol="0">
            <a:spAutoFit/>
          </a:bodyPr>
          <a:lstStyle/>
          <a:p>
            <a:pPr algn="ctr"/>
            <a:r>
              <a:rPr lang="en-US" sz="2400" b="1" dirty="0">
                <a:solidFill>
                  <a:srgbClr val="FF0000"/>
                </a:solidFill>
              </a:rPr>
              <a:t>Goal:</a:t>
            </a:r>
          </a:p>
          <a:p>
            <a:pPr algn="ctr"/>
            <a:r>
              <a:rPr lang="en-US" sz="2400" b="1" dirty="0">
                <a:solidFill>
                  <a:srgbClr val="FF0000"/>
                </a:solidFill>
              </a:rPr>
              <a:t> Conformal Inference</a:t>
            </a:r>
          </a:p>
        </p:txBody>
      </p:sp>
      <p:sp>
        <p:nvSpPr>
          <p:cNvPr id="105" name="TextBox 104">
            <a:extLst>
              <a:ext uri="{FF2B5EF4-FFF2-40B4-BE49-F238E27FC236}">
                <a16:creationId xmlns:a16="http://schemas.microsoft.com/office/drawing/2014/main" id="{836A63F0-5D5E-B8D8-D705-1025B466EABB}"/>
              </a:ext>
            </a:extLst>
          </p:cNvPr>
          <p:cNvSpPr txBox="1"/>
          <p:nvPr/>
        </p:nvSpPr>
        <p:spPr>
          <a:xfrm>
            <a:off x="17210615" y="13755257"/>
            <a:ext cx="356285" cy="1015663"/>
          </a:xfrm>
          <a:prstGeom prst="rect">
            <a:avLst/>
          </a:prstGeom>
          <a:noFill/>
        </p:spPr>
        <p:txBody>
          <a:bodyPr wrap="square" rtlCol="0">
            <a:spAutoFit/>
          </a:bodyPr>
          <a:lstStyle/>
          <a:p>
            <a:r>
              <a:rPr lang="en-US" sz="2000" b="1" dirty="0"/>
              <a:t>.</a:t>
            </a:r>
          </a:p>
          <a:p>
            <a:r>
              <a:rPr lang="en-US" sz="2000" b="1" dirty="0"/>
              <a:t>.</a:t>
            </a:r>
          </a:p>
          <a:p>
            <a:r>
              <a:rPr lang="en-US" sz="2000" b="1" dirty="0"/>
              <a:t>.</a:t>
            </a:r>
          </a:p>
        </p:txBody>
      </p:sp>
      <p:sp>
        <p:nvSpPr>
          <p:cNvPr id="107" name="TextBox 106">
            <a:extLst>
              <a:ext uri="{FF2B5EF4-FFF2-40B4-BE49-F238E27FC236}">
                <a16:creationId xmlns:a16="http://schemas.microsoft.com/office/drawing/2014/main" id="{2AC98DF5-355A-4559-8DE1-31B7EC9D717F}"/>
              </a:ext>
            </a:extLst>
          </p:cNvPr>
          <p:cNvSpPr txBox="1"/>
          <p:nvPr/>
        </p:nvSpPr>
        <p:spPr>
          <a:xfrm>
            <a:off x="20870055" y="13853074"/>
            <a:ext cx="356285" cy="1015663"/>
          </a:xfrm>
          <a:prstGeom prst="rect">
            <a:avLst/>
          </a:prstGeom>
          <a:noFill/>
        </p:spPr>
        <p:txBody>
          <a:bodyPr wrap="square" rtlCol="0">
            <a:spAutoFit/>
          </a:bodyPr>
          <a:lstStyle/>
          <a:p>
            <a:r>
              <a:rPr lang="en-US" sz="2000" b="1" dirty="0"/>
              <a:t>.</a:t>
            </a:r>
          </a:p>
          <a:p>
            <a:r>
              <a:rPr lang="en-US" sz="2000" b="1" dirty="0"/>
              <a:t>.</a:t>
            </a:r>
          </a:p>
          <a:p>
            <a:r>
              <a:rPr lang="en-US" sz="2000" b="1" dirty="0"/>
              <a:t>.</a:t>
            </a:r>
          </a:p>
        </p:txBody>
      </p:sp>
      <p:sp>
        <p:nvSpPr>
          <p:cNvPr id="108" name="TextBox 107">
            <a:extLst>
              <a:ext uri="{FF2B5EF4-FFF2-40B4-BE49-F238E27FC236}">
                <a16:creationId xmlns:a16="http://schemas.microsoft.com/office/drawing/2014/main" id="{66580ACA-A7D7-9CFD-75F0-904AFF7A567D}"/>
              </a:ext>
            </a:extLst>
          </p:cNvPr>
          <p:cNvSpPr txBox="1"/>
          <p:nvPr/>
        </p:nvSpPr>
        <p:spPr>
          <a:xfrm>
            <a:off x="22083335" y="13885105"/>
            <a:ext cx="356285" cy="1015663"/>
          </a:xfrm>
          <a:prstGeom prst="rect">
            <a:avLst/>
          </a:prstGeom>
          <a:noFill/>
        </p:spPr>
        <p:txBody>
          <a:bodyPr wrap="square" rtlCol="0">
            <a:spAutoFit/>
          </a:bodyPr>
          <a:lstStyle/>
          <a:p>
            <a:r>
              <a:rPr lang="en-US" sz="2000" b="1" dirty="0"/>
              <a:t>.</a:t>
            </a:r>
          </a:p>
          <a:p>
            <a:r>
              <a:rPr lang="en-US" sz="2000" b="1" dirty="0"/>
              <a:t>.</a:t>
            </a:r>
          </a:p>
          <a:p>
            <a:r>
              <a:rPr lang="en-US" sz="2000" b="1" dirty="0"/>
              <a:t>.</a:t>
            </a:r>
          </a:p>
        </p:txBody>
      </p:sp>
      <p:sp>
        <p:nvSpPr>
          <p:cNvPr id="110" name="TextBox 109">
            <a:extLst>
              <a:ext uri="{FF2B5EF4-FFF2-40B4-BE49-F238E27FC236}">
                <a16:creationId xmlns:a16="http://schemas.microsoft.com/office/drawing/2014/main" id="{942E8394-44E0-CCF1-52D8-DD62B2B3329C}"/>
              </a:ext>
            </a:extLst>
          </p:cNvPr>
          <p:cNvSpPr txBox="1"/>
          <p:nvPr/>
        </p:nvSpPr>
        <p:spPr>
          <a:xfrm>
            <a:off x="23350442" y="13867771"/>
            <a:ext cx="356285" cy="1015663"/>
          </a:xfrm>
          <a:prstGeom prst="rect">
            <a:avLst/>
          </a:prstGeom>
          <a:noFill/>
        </p:spPr>
        <p:txBody>
          <a:bodyPr wrap="square" rtlCol="0">
            <a:spAutoFit/>
          </a:bodyPr>
          <a:lstStyle/>
          <a:p>
            <a:r>
              <a:rPr lang="en-US" sz="2000" b="1" dirty="0"/>
              <a:t>.</a:t>
            </a:r>
          </a:p>
          <a:p>
            <a:r>
              <a:rPr lang="en-US" sz="2000" b="1" dirty="0"/>
              <a:t>.</a:t>
            </a:r>
          </a:p>
          <a:p>
            <a:r>
              <a:rPr lang="en-US" sz="2000" b="1" dirty="0"/>
              <a:t>.</a:t>
            </a:r>
          </a:p>
        </p:txBody>
      </p:sp>
      <p:sp>
        <p:nvSpPr>
          <p:cNvPr id="111" name="TextBox 110">
            <a:extLst>
              <a:ext uri="{FF2B5EF4-FFF2-40B4-BE49-F238E27FC236}">
                <a16:creationId xmlns:a16="http://schemas.microsoft.com/office/drawing/2014/main" id="{F26615AE-E6E0-0241-83F9-E4DF9A9FA04D}"/>
              </a:ext>
            </a:extLst>
          </p:cNvPr>
          <p:cNvSpPr txBox="1"/>
          <p:nvPr/>
        </p:nvSpPr>
        <p:spPr>
          <a:xfrm>
            <a:off x="26406294" y="13854463"/>
            <a:ext cx="356285" cy="1015663"/>
          </a:xfrm>
          <a:prstGeom prst="rect">
            <a:avLst/>
          </a:prstGeom>
          <a:noFill/>
        </p:spPr>
        <p:txBody>
          <a:bodyPr wrap="square" rtlCol="0">
            <a:spAutoFit/>
          </a:bodyPr>
          <a:lstStyle/>
          <a:p>
            <a:r>
              <a:rPr lang="en-US" sz="2000" b="1" dirty="0"/>
              <a:t>.</a:t>
            </a:r>
          </a:p>
          <a:p>
            <a:r>
              <a:rPr lang="en-US" sz="2000" b="1" dirty="0"/>
              <a:t>.</a:t>
            </a:r>
          </a:p>
          <a:p>
            <a:r>
              <a:rPr lang="en-US" sz="2000" b="1" dirty="0"/>
              <a:t>.</a:t>
            </a:r>
          </a:p>
        </p:txBody>
      </p:sp>
      <p:sp>
        <p:nvSpPr>
          <p:cNvPr id="114" name="TextBox 113">
            <a:extLst>
              <a:ext uri="{FF2B5EF4-FFF2-40B4-BE49-F238E27FC236}">
                <a16:creationId xmlns:a16="http://schemas.microsoft.com/office/drawing/2014/main" id="{DAFC5FA6-5BE3-A976-4063-AFB2F32F4BEF}"/>
              </a:ext>
            </a:extLst>
          </p:cNvPr>
          <p:cNvSpPr txBox="1"/>
          <p:nvPr/>
        </p:nvSpPr>
        <p:spPr>
          <a:xfrm>
            <a:off x="20169443" y="7247317"/>
            <a:ext cx="9068906" cy="954107"/>
          </a:xfrm>
          <a:prstGeom prst="rect">
            <a:avLst/>
          </a:prstGeom>
          <a:noFill/>
        </p:spPr>
        <p:txBody>
          <a:bodyPr wrap="square" rtlCol="0">
            <a:spAutoFit/>
          </a:bodyPr>
          <a:lstStyle/>
          <a:p>
            <a:pPr algn="ctr"/>
            <a:r>
              <a:rPr lang="en-US" sz="2800" b="1" dirty="0">
                <a:solidFill>
                  <a:srgbClr val="FF0000"/>
                </a:solidFill>
              </a:rPr>
              <a:t>Individual-level prediction to evaluate ITR before it is deployed</a:t>
            </a:r>
          </a:p>
        </p:txBody>
      </p:sp>
      <p:sp>
        <p:nvSpPr>
          <p:cNvPr id="119" name="TextBox 118">
            <a:extLst>
              <a:ext uri="{FF2B5EF4-FFF2-40B4-BE49-F238E27FC236}">
                <a16:creationId xmlns:a16="http://schemas.microsoft.com/office/drawing/2014/main" id="{8825D594-5E17-9C49-33E6-9DB007F3DA50}"/>
              </a:ext>
            </a:extLst>
          </p:cNvPr>
          <p:cNvSpPr txBox="1"/>
          <p:nvPr/>
        </p:nvSpPr>
        <p:spPr>
          <a:xfrm>
            <a:off x="20124948" y="11414135"/>
            <a:ext cx="1548894" cy="461665"/>
          </a:xfrm>
          <a:prstGeom prst="rect">
            <a:avLst/>
          </a:prstGeom>
          <a:noFill/>
        </p:spPr>
        <p:txBody>
          <a:bodyPr wrap="square" rtlCol="0">
            <a:spAutoFit/>
          </a:bodyPr>
          <a:lstStyle/>
          <a:p>
            <a:r>
              <a:rPr lang="en-US" sz="2400" dirty="0"/>
              <a:t>Covariates</a:t>
            </a:r>
          </a:p>
        </p:txBody>
      </p:sp>
      <p:sp>
        <p:nvSpPr>
          <p:cNvPr id="120" name="TextBox 119">
            <a:extLst>
              <a:ext uri="{FF2B5EF4-FFF2-40B4-BE49-F238E27FC236}">
                <a16:creationId xmlns:a16="http://schemas.microsoft.com/office/drawing/2014/main" id="{59C6B011-2E64-699F-C0E8-6B49ABBAD0C2}"/>
              </a:ext>
            </a:extLst>
          </p:cNvPr>
          <p:cNvSpPr txBox="1"/>
          <p:nvPr/>
        </p:nvSpPr>
        <p:spPr>
          <a:xfrm>
            <a:off x="21406733" y="10677170"/>
            <a:ext cx="1629349" cy="1200329"/>
          </a:xfrm>
          <a:prstGeom prst="rect">
            <a:avLst/>
          </a:prstGeom>
          <a:noFill/>
        </p:spPr>
        <p:txBody>
          <a:bodyPr wrap="square" rtlCol="0">
            <a:spAutoFit/>
          </a:bodyPr>
          <a:lstStyle/>
          <a:p>
            <a:pPr algn="ctr"/>
            <a:r>
              <a:rPr lang="en-US" sz="2400" dirty="0"/>
              <a:t>Existing Treatment Rules</a:t>
            </a:r>
          </a:p>
        </p:txBody>
      </p:sp>
      <p:sp>
        <p:nvSpPr>
          <p:cNvPr id="121" name="TextBox 120">
            <a:extLst>
              <a:ext uri="{FF2B5EF4-FFF2-40B4-BE49-F238E27FC236}">
                <a16:creationId xmlns:a16="http://schemas.microsoft.com/office/drawing/2014/main" id="{4D085CB5-852F-5EA0-BCBE-0BE9150F126A}"/>
              </a:ext>
            </a:extLst>
          </p:cNvPr>
          <p:cNvSpPr txBox="1"/>
          <p:nvPr/>
        </p:nvSpPr>
        <p:spPr>
          <a:xfrm>
            <a:off x="22872870" y="11434757"/>
            <a:ext cx="1629349" cy="461665"/>
          </a:xfrm>
          <a:prstGeom prst="rect">
            <a:avLst/>
          </a:prstGeom>
          <a:noFill/>
        </p:spPr>
        <p:txBody>
          <a:bodyPr wrap="square" rtlCol="0">
            <a:spAutoFit/>
          </a:bodyPr>
          <a:lstStyle/>
          <a:p>
            <a:r>
              <a:rPr lang="en-US" sz="2400" dirty="0"/>
              <a:t>Outcomes</a:t>
            </a:r>
          </a:p>
        </p:txBody>
      </p:sp>
      <p:sp>
        <p:nvSpPr>
          <p:cNvPr id="123" name="TextBox 122">
            <a:extLst>
              <a:ext uri="{FF2B5EF4-FFF2-40B4-BE49-F238E27FC236}">
                <a16:creationId xmlns:a16="http://schemas.microsoft.com/office/drawing/2014/main" id="{B51B0787-C01D-21BD-9EA1-A252C98FD6D1}"/>
              </a:ext>
            </a:extLst>
          </p:cNvPr>
          <p:cNvSpPr txBox="1"/>
          <p:nvPr/>
        </p:nvSpPr>
        <p:spPr>
          <a:xfrm>
            <a:off x="33383307" y="6609149"/>
            <a:ext cx="9648149" cy="584775"/>
          </a:xfrm>
          <a:prstGeom prst="rect">
            <a:avLst/>
          </a:prstGeom>
          <a:noFill/>
        </p:spPr>
        <p:txBody>
          <a:bodyPr wrap="square">
            <a:spAutoFit/>
          </a:bodyPr>
          <a:lstStyle/>
          <a:p>
            <a:pPr algn="ctr"/>
            <a:r>
              <a:rPr lang="en-US" sz="2800" b="1" dirty="0"/>
              <a:t>Figure 1.</a:t>
            </a:r>
            <a:r>
              <a:rPr lang="en-US" sz="2800" dirty="0"/>
              <a:t> </a:t>
            </a:r>
            <a:r>
              <a:rPr lang="en-US" sz="3200" dirty="0"/>
              <a:t>CP and AL using</a:t>
            </a:r>
            <a:r>
              <a:rPr lang="en-US" sz="3200" dirty="0">
                <a:solidFill>
                  <a:srgbClr val="FF0000"/>
                </a:solidFill>
              </a:rPr>
              <a:t> internal </a:t>
            </a:r>
            <a:r>
              <a:rPr lang="en-US" sz="3200" dirty="0"/>
              <a:t>source only.</a:t>
            </a:r>
          </a:p>
        </p:txBody>
      </p:sp>
      <p:sp>
        <p:nvSpPr>
          <p:cNvPr id="125" name="TextBox 124">
            <a:extLst>
              <a:ext uri="{FF2B5EF4-FFF2-40B4-BE49-F238E27FC236}">
                <a16:creationId xmlns:a16="http://schemas.microsoft.com/office/drawing/2014/main" id="{18FDA63E-0FA9-2CA1-558B-78025A19BDB9}"/>
              </a:ext>
            </a:extLst>
          </p:cNvPr>
          <p:cNvSpPr txBox="1"/>
          <p:nvPr/>
        </p:nvSpPr>
        <p:spPr>
          <a:xfrm>
            <a:off x="33423625" y="12276452"/>
            <a:ext cx="10533198" cy="584775"/>
          </a:xfrm>
          <a:prstGeom prst="rect">
            <a:avLst/>
          </a:prstGeom>
          <a:noFill/>
        </p:spPr>
        <p:txBody>
          <a:bodyPr wrap="square">
            <a:spAutoFit/>
          </a:bodyPr>
          <a:lstStyle/>
          <a:p>
            <a:pPr algn="ctr"/>
            <a:r>
              <a:rPr lang="en-US" sz="2800" b="1" dirty="0"/>
              <a:t>Figure 2.</a:t>
            </a:r>
            <a:r>
              <a:rPr lang="en-US" sz="2800" dirty="0"/>
              <a:t> </a:t>
            </a:r>
            <a:r>
              <a:rPr lang="en-US" sz="3200" dirty="0"/>
              <a:t>CP and AL using </a:t>
            </a:r>
            <a:r>
              <a:rPr lang="en-US" sz="3200" dirty="0">
                <a:solidFill>
                  <a:srgbClr val="FF0000"/>
                </a:solidFill>
              </a:rPr>
              <a:t>internal + multiple external </a:t>
            </a:r>
            <a:r>
              <a:rPr lang="en-US" sz="3200" dirty="0"/>
              <a:t>sources.</a:t>
            </a:r>
          </a:p>
        </p:txBody>
      </p:sp>
      <p:pic>
        <p:nvPicPr>
          <p:cNvPr id="127" name="Picture 126">
            <a:extLst>
              <a:ext uri="{FF2B5EF4-FFF2-40B4-BE49-F238E27FC236}">
                <a16:creationId xmlns:a16="http://schemas.microsoft.com/office/drawing/2014/main" id="{8063B0A2-B524-9BE8-7C89-09BB68977662}"/>
              </a:ext>
            </a:extLst>
          </p:cNvPr>
          <p:cNvPicPr>
            <a:picLocks noChangeAspect="1"/>
          </p:cNvPicPr>
          <p:nvPr/>
        </p:nvPicPr>
        <p:blipFill>
          <a:blip r:embed="rId11"/>
          <a:stretch>
            <a:fillRect/>
          </a:stretch>
        </p:blipFill>
        <p:spPr>
          <a:xfrm>
            <a:off x="33463793" y="26090755"/>
            <a:ext cx="10180311" cy="3905538"/>
          </a:xfrm>
          <a:prstGeom prst="rect">
            <a:avLst/>
          </a:prstGeom>
        </p:spPr>
      </p:pic>
      <p:sp>
        <p:nvSpPr>
          <p:cNvPr id="1025" name="TextBox 1024">
            <a:extLst>
              <a:ext uri="{FF2B5EF4-FFF2-40B4-BE49-F238E27FC236}">
                <a16:creationId xmlns:a16="http://schemas.microsoft.com/office/drawing/2014/main" id="{4075A68D-A310-2DAD-221F-6A26E2D64128}"/>
              </a:ext>
            </a:extLst>
          </p:cNvPr>
          <p:cNvSpPr txBox="1"/>
          <p:nvPr/>
        </p:nvSpPr>
        <p:spPr>
          <a:xfrm>
            <a:off x="33684030" y="19013295"/>
            <a:ext cx="10081136" cy="1077218"/>
          </a:xfrm>
          <a:prstGeom prst="rect">
            <a:avLst/>
          </a:prstGeom>
          <a:noFill/>
        </p:spPr>
        <p:txBody>
          <a:bodyPr wrap="square">
            <a:spAutoFit/>
          </a:bodyPr>
          <a:lstStyle/>
          <a:p>
            <a:r>
              <a:rPr lang="en-US" sz="2800" b="1" dirty="0"/>
              <a:t>Figure 3.</a:t>
            </a:r>
            <a:r>
              <a:rPr lang="en-US" sz="2800" dirty="0"/>
              <a:t> </a:t>
            </a:r>
            <a:r>
              <a:rPr lang="en-US" sz="3200" dirty="0"/>
              <a:t>Predicted 60-day mortality, all </a:t>
            </a:r>
            <a:r>
              <a:rPr lang="en-US" sz="3200" dirty="0" err="1"/>
              <a:t>ProCESS</a:t>
            </a:r>
            <a:r>
              <a:rPr lang="en-US" sz="3200" dirty="0"/>
              <a:t> as internal source.</a:t>
            </a:r>
          </a:p>
        </p:txBody>
      </p:sp>
      <p:sp>
        <p:nvSpPr>
          <p:cNvPr id="1027" name="TextBox 1026">
            <a:extLst>
              <a:ext uri="{FF2B5EF4-FFF2-40B4-BE49-F238E27FC236}">
                <a16:creationId xmlns:a16="http://schemas.microsoft.com/office/drawing/2014/main" id="{AA765FB2-F66C-0F77-0873-A8CE653CB57E}"/>
              </a:ext>
            </a:extLst>
          </p:cNvPr>
          <p:cNvSpPr txBox="1"/>
          <p:nvPr/>
        </p:nvSpPr>
        <p:spPr>
          <a:xfrm>
            <a:off x="33753144" y="25456250"/>
            <a:ext cx="10270312" cy="1077218"/>
          </a:xfrm>
          <a:prstGeom prst="rect">
            <a:avLst/>
          </a:prstGeom>
          <a:noFill/>
        </p:spPr>
        <p:txBody>
          <a:bodyPr wrap="square">
            <a:spAutoFit/>
          </a:bodyPr>
          <a:lstStyle/>
          <a:p>
            <a:r>
              <a:rPr lang="en-US" sz="2800" b="1" dirty="0"/>
              <a:t>Figure 4.</a:t>
            </a:r>
            <a:r>
              <a:rPr lang="en-US" sz="2800" dirty="0"/>
              <a:t> </a:t>
            </a:r>
            <a:r>
              <a:rPr lang="en-US" sz="3200" dirty="0"/>
              <a:t>Predicted 60-day mortality, Region 1 as internal source.</a:t>
            </a:r>
          </a:p>
        </p:txBody>
      </p:sp>
      <p:sp>
        <p:nvSpPr>
          <p:cNvPr id="18" name="Arrow: Down 17">
            <a:extLst>
              <a:ext uri="{FF2B5EF4-FFF2-40B4-BE49-F238E27FC236}">
                <a16:creationId xmlns:a16="http://schemas.microsoft.com/office/drawing/2014/main" id="{F6198D73-8CDE-FD55-6A7E-318B8AFD2D15}"/>
              </a:ext>
            </a:extLst>
          </p:cNvPr>
          <p:cNvSpPr/>
          <p:nvPr/>
        </p:nvSpPr>
        <p:spPr>
          <a:xfrm flipH="1">
            <a:off x="8769354" y="21292788"/>
            <a:ext cx="120953" cy="808911"/>
          </a:xfrm>
          <a:prstGeom prst="downArrow">
            <a:avLst/>
          </a:prstGeom>
          <a:solidFill>
            <a:schemeClr val="tx1">
              <a:lumMod val="65000"/>
              <a:lumOff val="35000"/>
            </a:schemeClr>
          </a:solidFill>
          <a:ln w="9525">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4" name="Picture 23">
            <a:extLst>
              <a:ext uri="{FF2B5EF4-FFF2-40B4-BE49-F238E27FC236}">
                <a16:creationId xmlns:a16="http://schemas.microsoft.com/office/drawing/2014/main" id="{28752180-A6A3-F692-119A-670752D77203}"/>
              </a:ext>
            </a:extLst>
          </p:cNvPr>
          <p:cNvPicPr>
            <a:picLocks noChangeAspect="1"/>
          </p:cNvPicPr>
          <p:nvPr/>
        </p:nvPicPr>
        <p:blipFill>
          <a:blip r:embed="rId12"/>
          <a:stretch>
            <a:fillRect/>
          </a:stretch>
        </p:blipFill>
        <p:spPr>
          <a:xfrm>
            <a:off x="3248034" y="22101699"/>
            <a:ext cx="9666667" cy="5400000"/>
          </a:xfrm>
          <a:prstGeom prst="rect">
            <a:avLst/>
          </a:prstGeom>
        </p:spPr>
      </p:pic>
      <p:pic>
        <p:nvPicPr>
          <p:cNvPr id="34" name="Picture 33">
            <a:extLst>
              <a:ext uri="{FF2B5EF4-FFF2-40B4-BE49-F238E27FC236}">
                <a16:creationId xmlns:a16="http://schemas.microsoft.com/office/drawing/2014/main" id="{84FBCEDC-7675-2B43-5D0E-512996BB8109}"/>
              </a:ext>
            </a:extLst>
          </p:cNvPr>
          <p:cNvPicPr>
            <a:picLocks noChangeAspect="1"/>
          </p:cNvPicPr>
          <p:nvPr/>
        </p:nvPicPr>
        <p:blipFill>
          <a:blip r:embed="rId13"/>
          <a:stretch>
            <a:fillRect/>
          </a:stretch>
        </p:blipFill>
        <p:spPr>
          <a:xfrm>
            <a:off x="29735126" y="7523131"/>
            <a:ext cx="3357798" cy="4580658"/>
          </a:xfrm>
          <a:prstGeom prst="rect">
            <a:avLst/>
          </a:prstGeom>
        </p:spPr>
      </p:pic>
      <p:sp>
        <p:nvSpPr>
          <p:cNvPr id="37" name="TextBox 36">
            <a:extLst>
              <a:ext uri="{FF2B5EF4-FFF2-40B4-BE49-F238E27FC236}">
                <a16:creationId xmlns:a16="http://schemas.microsoft.com/office/drawing/2014/main" id="{4D1B53C2-218F-244A-F0C4-FAD930F65DBE}"/>
              </a:ext>
            </a:extLst>
          </p:cNvPr>
          <p:cNvSpPr txBox="1"/>
          <p:nvPr/>
        </p:nvSpPr>
        <p:spPr>
          <a:xfrm>
            <a:off x="33810661" y="10865478"/>
            <a:ext cx="9786815" cy="1384995"/>
          </a:xfrm>
          <a:prstGeom prst="rect">
            <a:avLst/>
          </a:prstGeom>
          <a:noFill/>
        </p:spPr>
        <p:txBody>
          <a:bodyPr wrap="square">
            <a:spAutoFit/>
          </a:bodyPr>
          <a:lstStyle/>
          <a:p>
            <a:r>
              <a:rPr lang="en-US" sz="2800" dirty="0"/>
              <a:t>SM and COPP undercover by ignoring covariate shift; </a:t>
            </a:r>
            <a:r>
              <a:rPr lang="en-US" sz="2800" dirty="0" err="1"/>
              <a:t>tCOPP</a:t>
            </a:r>
            <a:r>
              <a:rPr lang="en-US" sz="2800" dirty="0"/>
              <a:t>-W and </a:t>
            </a:r>
            <a:r>
              <a:rPr lang="en-US" sz="2800" dirty="0" err="1"/>
              <a:t>tCOPP</a:t>
            </a:r>
            <a:r>
              <a:rPr lang="en-US" sz="2800" dirty="0"/>
              <a:t>-EIF(I) achieve nominal 90% coverage at the cost of moderately wider intervals.</a:t>
            </a:r>
          </a:p>
        </p:txBody>
      </p:sp>
      <p:sp>
        <p:nvSpPr>
          <p:cNvPr id="48" name="TextBox 47">
            <a:extLst>
              <a:ext uri="{FF2B5EF4-FFF2-40B4-BE49-F238E27FC236}">
                <a16:creationId xmlns:a16="http://schemas.microsoft.com/office/drawing/2014/main" id="{D11DF406-B889-95BE-F60F-0268C90D1AF0}"/>
              </a:ext>
            </a:extLst>
          </p:cNvPr>
          <p:cNvSpPr txBox="1"/>
          <p:nvPr/>
        </p:nvSpPr>
        <p:spPr>
          <a:xfrm>
            <a:off x="33834985" y="16426913"/>
            <a:ext cx="9790288" cy="1384995"/>
          </a:xfrm>
          <a:prstGeom prst="rect">
            <a:avLst/>
          </a:prstGeom>
          <a:noFill/>
        </p:spPr>
        <p:txBody>
          <a:bodyPr wrap="square">
            <a:spAutoFit/>
          </a:bodyPr>
          <a:lstStyle/>
          <a:p>
            <a:r>
              <a:rPr lang="en-US" sz="2800" dirty="0" err="1"/>
              <a:t>tCOPP</a:t>
            </a:r>
            <a:r>
              <a:rPr lang="en-US" sz="2800" dirty="0"/>
              <a:t>-EIF(M) achieves nominal coverage with shorter, less variable intervals by adaptively borrowing from external sources — even when CCOD is violated.</a:t>
            </a:r>
          </a:p>
        </p:txBody>
      </p:sp>
      <p:sp>
        <p:nvSpPr>
          <p:cNvPr id="52" name="TextBox 51">
            <a:extLst>
              <a:ext uri="{FF2B5EF4-FFF2-40B4-BE49-F238E27FC236}">
                <a16:creationId xmlns:a16="http://schemas.microsoft.com/office/drawing/2014/main" id="{CFE64425-6122-5394-4AEE-3171D814C81C}"/>
              </a:ext>
            </a:extLst>
          </p:cNvPr>
          <p:cNvSpPr txBox="1"/>
          <p:nvPr/>
        </p:nvSpPr>
        <p:spPr>
          <a:xfrm>
            <a:off x="33585556" y="30182828"/>
            <a:ext cx="9967208" cy="954107"/>
          </a:xfrm>
          <a:prstGeom prst="rect">
            <a:avLst/>
          </a:prstGeom>
          <a:noFill/>
        </p:spPr>
        <p:txBody>
          <a:bodyPr wrap="square">
            <a:spAutoFit/>
          </a:bodyPr>
          <a:lstStyle/>
          <a:p>
            <a:r>
              <a:rPr lang="en-US" sz="2800" dirty="0"/>
              <a:t>Both methods stratify mortality risk well; </a:t>
            </a:r>
            <a:r>
              <a:rPr lang="en-US" sz="2800" dirty="0" err="1"/>
              <a:t>tCOPP</a:t>
            </a:r>
            <a:r>
              <a:rPr lang="en-US" sz="2800" dirty="0"/>
              <a:t>-EIF(M) yields tighter intervals than </a:t>
            </a:r>
            <a:r>
              <a:rPr lang="en-US" sz="2800" dirty="0" err="1"/>
              <a:t>tCOPP</a:t>
            </a:r>
            <a:r>
              <a:rPr lang="en-US" sz="2800" dirty="0"/>
              <a:t>-EIF(I) by leveraging Regions 2 and 3.</a:t>
            </a:r>
          </a:p>
        </p:txBody>
      </p:sp>
      <p:sp>
        <p:nvSpPr>
          <p:cNvPr id="56" name="TextBox 55">
            <a:extLst>
              <a:ext uri="{FF2B5EF4-FFF2-40B4-BE49-F238E27FC236}">
                <a16:creationId xmlns:a16="http://schemas.microsoft.com/office/drawing/2014/main" id="{3E3A4DB4-3406-0FB4-B6BB-415BE19B92C0}"/>
              </a:ext>
            </a:extLst>
          </p:cNvPr>
          <p:cNvSpPr txBox="1"/>
          <p:nvPr/>
        </p:nvSpPr>
        <p:spPr>
          <a:xfrm>
            <a:off x="33753144" y="23791060"/>
            <a:ext cx="9088479" cy="1384995"/>
          </a:xfrm>
          <a:prstGeom prst="rect">
            <a:avLst/>
          </a:prstGeom>
          <a:noFill/>
        </p:spPr>
        <p:txBody>
          <a:bodyPr wrap="square">
            <a:spAutoFit/>
          </a:bodyPr>
          <a:lstStyle/>
          <a:p>
            <a:r>
              <a:rPr lang="en-US" sz="2800" dirty="0" err="1"/>
              <a:t>tCOPP</a:t>
            </a:r>
            <a:r>
              <a:rPr lang="en-US" sz="2800" dirty="0"/>
              <a:t>-W provides individualized risk stratification under both treatment policies; comparing intervals across arms can inform personalized treatment decisions.</a:t>
            </a:r>
          </a:p>
        </p:txBody>
      </p:sp>
      <p:sp>
        <p:nvSpPr>
          <p:cNvPr id="9" name="Right Brace 8">
            <a:extLst>
              <a:ext uri="{FF2B5EF4-FFF2-40B4-BE49-F238E27FC236}">
                <a16:creationId xmlns:a16="http://schemas.microsoft.com/office/drawing/2014/main" id="{C75A3948-8808-1108-6041-459F67F4218D}"/>
              </a:ext>
            </a:extLst>
          </p:cNvPr>
          <p:cNvSpPr/>
          <p:nvPr/>
        </p:nvSpPr>
        <p:spPr>
          <a:xfrm>
            <a:off x="17812114" y="13373100"/>
            <a:ext cx="469618" cy="1998788"/>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a:extLst>
              <a:ext uri="{FF2B5EF4-FFF2-40B4-BE49-F238E27FC236}">
                <a16:creationId xmlns:a16="http://schemas.microsoft.com/office/drawing/2014/main" id="{CA436666-A2FE-2D52-D2EE-E297B40BA942}"/>
              </a:ext>
            </a:extLst>
          </p:cNvPr>
          <p:cNvSpPr txBox="1"/>
          <p:nvPr/>
        </p:nvSpPr>
        <p:spPr>
          <a:xfrm>
            <a:off x="20124948" y="9604885"/>
            <a:ext cx="1548894" cy="830997"/>
          </a:xfrm>
          <a:prstGeom prst="rect">
            <a:avLst/>
          </a:prstGeom>
          <a:noFill/>
        </p:spPr>
        <p:txBody>
          <a:bodyPr wrap="square" rtlCol="0">
            <a:spAutoFit/>
          </a:bodyPr>
          <a:lstStyle/>
          <a:p>
            <a:pPr algn="ctr"/>
            <a:r>
              <a:rPr lang="en-US" sz="2400" dirty="0"/>
              <a:t>Covariates</a:t>
            </a:r>
          </a:p>
          <a:p>
            <a:pPr algn="ctr"/>
            <a:r>
              <a:rPr lang="en-US" sz="2400" dirty="0"/>
              <a:t>Only</a:t>
            </a:r>
          </a:p>
        </p:txBody>
      </p:sp>
      <p:sp>
        <p:nvSpPr>
          <p:cNvPr id="20" name="TextBox 19">
            <a:extLst>
              <a:ext uri="{FF2B5EF4-FFF2-40B4-BE49-F238E27FC236}">
                <a16:creationId xmlns:a16="http://schemas.microsoft.com/office/drawing/2014/main" id="{E2AEA6F7-A49C-C426-B404-2AB0BA62D9A1}"/>
              </a:ext>
            </a:extLst>
          </p:cNvPr>
          <p:cNvSpPr txBox="1"/>
          <p:nvPr/>
        </p:nvSpPr>
        <p:spPr>
          <a:xfrm rot="18712131">
            <a:off x="36577649" y="15962932"/>
            <a:ext cx="594620" cy="261610"/>
          </a:xfrm>
          <a:prstGeom prst="rect">
            <a:avLst/>
          </a:prstGeom>
          <a:noFill/>
        </p:spPr>
        <p:txBody>
          <a:bodyPr wrap="square" rtlCol="0">
            <a:spAutoFit/>
          </a:bodyPr>
          <a:lstStyle/>
          <a:p>
            <a:r>
              <a:rPr lang="en-US" sz="1100" dirty="0"/>
              <a:t>(M)</a:t>
            </a:r>
          </a:p>
        </p:txBody>
      </p:sp>
      <p:sp>
        <p:nvSpPr>
          <p:cNvPr id="21" name="TextBox 20">
            <a:extLst>
              <a:ext uri="{FF2B5EF4-FFF2-40B4-BE49-F238E27FC236}">
                <a16:creationId xmlns:a16="http://schemas.microsoft.com/office/drawing/2014/main" id="{D2594CD4-1A23-AAB1-1CB8-6C3FA9A8C0B5}"/>
              </a:ext>
            </a:extLst>
          </p:cNvPr>
          <p:cNvSpPr txBox="1"/>
          <p:nvPr/>
        </p:nvSpPr>
        <p:spPr>
          <a:xfrm rot="18712131">
            <a:off x="41680307" y="15931793"/>
            <a:ext cx="619253" cy="261610"/>
          </a:xfrm>
          <a:prstGeom prst="rect">
            <a:avLst/>
          </a:prstGeom>
          <a:noFill/>
        </p:spPr>
        <p:txBody>
          <a:bodyPr wrap="square" rtlCol="0">
            <a:spAutoFit/>
          </a:bodyPr>
          <a:lstStyle/>
          <a:p>
            <a:r>
              <a:rPr lang="en-US" sz="1100" dirty="0"/>
              <a:t>(M)</a:t>
            </a:r>
          </a:p>
        </p:txBody>
      </p:sp>
      <p:sp>
        <p:nvSpPr>
          <p:cNvPr id="22" name="TextBox 21">
            <a:extLst>
              <a:ext uri="{FF2B5EF4-FFF2-40B4-BE49-F238E27FC236}">
                <a16:creationId xmlns:a16="http://schemas.microsoft.com/office/drawing/2014/main" id="{F813F4F3-BC65-C866-F4C6-5785C19E7B32}"/>
              </a:ext>
            </a:extLst>
          </p:cNvPr>
          <p:cNvSpPr txBox="1"/>
          <p:nvPr/>
        </p:nvSpPr>
        <p:spPr>
          <a:xfrm>
            <a:off x="41168877" y="26284786"/>
            <a:ext cx="836373" cy="369332"/>
          </a:xfrm>
          <a:prstGeom prst="rect">
            <a:avLst/>
          </a:prstGeom>
          <a:noFill/>
        </p:spPr>
        <p:txBody>
          <a:bodyPr wrap="square" rtlCol="0">
            <a:spAutoFit/>
          </a:bodyPr>
          <a:lstStyle/>
          <a:p>
            <a:r>
              <a:rPr lang="en-US" dirty="0"/>
              <a:t>(M)</a:t>
            </a:r>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9ef9f489-e0a0-4eeb-87cc-3a526112fd0d}" enabled="0" method="" siteId="{9ef9f489-e0a0-4eeb-87cc-3a526112fd0d}" removed="1"/>
</clbl:labelList>
</file>

<file path=docProps/app.xml><?xml version="1.0" encoding="utf-8"?>
<Properties xmlns="http://schemas.openxmlformats.org/officeDocument/2006/extended-properties" xmlns:vt="http://schemas.openxmlformats.org/officeDocument/2006/docPropsVTypes">
  <TotalTime>3956</TotalTime>
  <Words>933</Words>
  <Application>Microsoft Office PowerPoint</Application>
  <PresentationFormat>Custom</PresentationFormat>
  <Paragraphs>123</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Conformal Inference of Individualized Treatment Rules under Distributional Shift</dc:title>
  <dc:subject>PptxGenJS Presentation</dc:subject>
  <dc:creator>Zhiyu Sui</dc:creator>
  <cp:lastModifiedBy>Zhuodiao Kuang</cp:lastModifiedBy>
  <cp:revision>20</cp:revision>
  <dcterms:created xsi:type="dcterms:W3CDTF">2026-03-16T01:17:59Z</dcterms:created>
  <dcterms:modified xsi:type="dcterms:W3CDTF">2026-04-07T02:38:17Z</dcterms:modified>
</cp:coreProperties>
</file>